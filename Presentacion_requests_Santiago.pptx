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Apertura: 'Me tocó la librería requests y la usé para construir una consola de noticias deportivas en tiempo real que también muestra clima de Guatemala, tipo de cambio y manda favoritos a Discord.' La instalé con pip install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requests resuelve un problema concreto: Python por defecto no sabe hablar con internet. En 3 líneas ya estás recibiendo info real de cualquier API. Lo instalé con pip install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 caso de uso: una consola de noticias deportivas que también funciona como mini dashboard. Trae datos reales en vivo de cuatro APIs distintas cada vez que se abre. Lo elegí porque me dejaba demostrar las tres formas de usar requests: no solo traer datos, también enviarlos.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clave (vale 25% de la nota). Las tres formas de comunicarse con internet. head = tocar la puerta antes de entrar, verifica que hay internet sin descargar. get = 'dame info', la más usada, mismo patrón siempre. post = 'tomá esto', manda el favorito a Discord; cuando llega responde código 204. La captura es la prueba real de que el post funciona end-to-end.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código está dividido en 8 funciones: 4 se comunican con internet usando requests, 4 muestran la info en pantalla. Separé la lógica del display a propósito: si cambio cómo se ve el dashboard, no toco el código que trae los datos. Cada función hace una sola cosa. El main es el director de orquesta.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más valioso: el 90% del trabajo con APIs sigue el mismo patrón. Construís la URL, hacés el get, convertís con .json(), y navegás el diccionario para sacar lo que necesitás. Lo apliqué tres veces con tres APIs distintas y el código es casi idéntico.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Más allá del proyecto, me llevo el patrón. Cualquier automatización que consuma datos de internet funciona igual que esto. También aprendí que las APIs no son magia: son servicios con una dirección que aceptan parámetros y responden con un diccionario.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Dejá visible el link de tu repo de GitHub. Si el profe pregunta algo de código, mostrá el archivo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1.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D"/>
        </a:solidFill>
      </p:bgPr>
    </p:bg>
    <p:spTree>
      <p:nvGrpSpPr>
        <p:cNvPr id="1" name=""/>
        <p:cNvGrpSpPr/>
        <p:nvPr/>
      </p:nvGrpSpPr>
      <p:grpSpPr>
        <a:xfrm>
          <a:off x="0" y="0"/>
          <a:ext cx="0" cy="0"/>
          <a:chOff x="0" y="0"/>
          <a:chExt cx="0" cy="0"/>
        </a:xfrm>
      </p:grpSpPr>
      <p:sp>
        <p:nvSpPr>
          <p:cNvPr id="2" name="Shape 0"/>
          <p:cNvSpPr/>
          <p:nvPr/>
        </p:nvSpPr>
        <p:spPr>
          <a:xfrm>
            <a:off x="8869680" y="-2011680"/>
            <a:ext cx="5943600" cy="5943600"/>
          </a:xfrm>
          <a:prstGeom prst="ellipse">
            <a:avLst/>
          </a:prstGeom>
          <a:solidFill>
            <a:srgbClr val="12305C"/>
          </a:solidFill>
          <a:ln/>
        </p:spPr>
      </p:sp>
      <p:sp>
        <p:nvSpPr>
          <p:cNvPr id="3" name="Shape 1"/>
          <p:cNvSpPr/>
          <p:nvPr/>
        </p:nvSpPr>
        <p:spPr>
          <a:xfrm>
            <a:off x="10241280" y="3291840"/>
            <a:ext cx="4389120" cy="4389120"/>
          </a:xfrm>
          <a:prstGeom prst="ellipse">
            <a:avLst/>
          </a:prstGeom>
          <a:solidFill>
            <a:srgbClr val="1D6FE0">
              <a:alpha val="22000"/>
            </a:srgbClr>
          </a:solidFill>
          <a:ln/>
        </p:spPr>
      </p:sp>
      <p:pic>
        <p:nvPicPr>
          <p:cNvPr id="4" name="Image 0" descr="preencoded.png">    </p:cNvPr>
          <p:cNvPicPr>
            <a:picLocks noChangeAspect="1"/>
          </p:cNvPicPr>
          <p:nvPr/>
        </p:nvPicPr>
        <p:blipFill>
          <a:blip r:embed="rId1"/>
          <a:stretch>
            <a:fillRect/>
          </a:stretch>
        </p:blipFill>
        <p:spPr>
          <a:xfrm>
            <a:off x="777240" y="1417320"/>
            <a:ext cx="640080" cy="640080"/>
          </a:xfrm>
          <a:prstGeom prst="rect">
            <a:avLst/>
          </a:prstGeom>
        </p:spPr>
      </p:pic>
      <p:sp>
        <p:nvSpPr>
          <p:cNvPr id="5" name="Text 2"/>
          <p:cNvSpPr/>
          <p:nvPr/>
        </p:nvSpPr>
        <p:spPr>
          <a:xfrm>
            <a:off x="1554480" y="1481328"/>
            <a:ext cx="8229600" cy="457200"/>
          </a:xfrm>
          <a:prstGeom prst="rect">
            <a:avLst/>
          </a:prstGeom>
          <a:noFill/>
          <a:ln/>
        </p:spPr>
        <p:txBody>
          <a:bodyPr wrap="square" lIns="0" tIns="0" rIns="0" bIns="0" rtlCol="0" anchor="ctr"/>
          <a:lstStyle/>
          <a:p>
            <a:pPr indent="0" marL="0">
              <a:buNone/>
            </a:pPr>
            <a:r>
              <a:rPr lang="en-US" sz="1400" b="1" spc="300" kern="0" dirty="0">
                <a:solidFill>
                  <a:srgbClr val="38BDF8"/>
                </a:solidFill>
                <a:latin typeface="Arial" pitchFamily="34" charset="0"/>
                <a:ea typeface="Arial" pitchFamily="34" charset="-122"/>
                <a:cs typeface="Arial" pitchFamily="34" charset="-120"/>
              </a:rPr>
              <a:t>PARCIAL 1 · FUNDAMENTOS DE PROGRAMACIÓN</a:t>
            </a:r>
            <a:endParaRPr lang="en-US" sz="1400" dirty="0"/>
          </a:p>
        </p:txBody>
      </p:sp>
      <p:sp>
        <p:nvSpPr>
          <p:cNvPr id="6" name="Text 3"/>
          <p:cNvSpPr/>
          <p:nvPr/>
        </p:nvSpPr>
        <p:spPr>
          <a:xfrm>
            <a:off x="731520" y="2240280"/>
            <a:ext cx="10058400" cy="1737360"/>
          </a:xfrm>
          <a:prstGeom prst="rect">
            <a:avLst/>
          </a:prstGeom>
          <a:noFill/>
          <a:ln/>
        </p:spPr>
        <p:txBody>
          <a:bodyPr wrap="square" lIns="0" tIns="0" rIns="0" bIns="0" rtlCol="0" anchor="ctr"/>
          <a:lstStyle/>
          <a:p>
            <a:pPr indent="0" marL="0">
              <a:lnSpc>
                <a:spcPts val="5600"/>
              </a:lnSpc>
              <a:buNone/>
            </a:pPr>
            <a:r>
              <a:rPr lang="en-US" sz="5200" b="1" dirty="0">
                <a:solidFill>
                  <a:srgbClr val="FFFFFF"/>
                </a:solidFill>
                <a:latin typeface="Cambria" pitchFamily="34" charset="0"/>
                <a:ea typeface="Cambria" pitchFamily="34" charset="-122"/>
                <a:cs typeface="Cambria" pitchFamily="34" charset="-120"/>
              </a:rPr>
              <a:t>Dashboard de Noticias</a:t>
            </a:r>
            <a:endParaRPr lang="en-US" sz="5200" dirty="0"/>
          </a:p>
          <a:p>
            <a:pPr indent="0" marL="0">
              <a:lnSpc>
                <a:spcPts val="5600"/>
              </a:lnSpc>
              <a:buNone/>
            </a:pPr>
            <a:r>
              <a:rPr lang="en-US" sz="5200" b="1" dirty="0">
                <a:solidFill>
                  <a:srgbClr val="FFFFFF"/>
                </a:solidFill>
                <a:latin typeface="Cambria" pitchFamily="34" charset="0"/>
                <a:ea typeface="Cambria" pitchFamily="34" charset="-122"/>
                <a:cs typeface="Cambria" pitchFamily="34" charset="-120"/>
              </a:rPr>
              <a:t>Deportivas</a:t>
            </a:r>
            <a:endParaRPr lang="en-US" sz="5200" dirty="0"/>
          </a:p>
        </p:txBody>
      </p:sp>
      <p:sp>
        <p:nvSpPr>
          <p:cNvPr id="7" name="Text 4"/>
          <p:cNvSpPr/>
          <p:nvPr/>
        </p:nvSpPr>
        <p:spPr>
          <a:xfrm>
            <a:off x="777240" y="4069080"/>
            <a:ext cx="10515600" cy="457200"/>
          </a:xfrm>
          <a:prstGeom prst="rect">
            <a:avLst/>
          </a:prstGeom>
          <a:noFill/>
          <a:ln/>
        </p:spPr>
        <p:txBody>
          <a:bodyPr wrap="square" lIns="0" tIns="0" rIns="0" bIns="0" rtlCol="0" anchor="ctr"/>
          <a:lstStyle/>
          <a:p>
            <a:pPr indent="0" marL="0">
              <a:buNone/>
            </a:pPr>
            <a:r>
              <a:rPr lang="en-US" sz="1800" dirty="0">
                <a:solidFill>
                  <a:srgbClr val="C9D8EE"/>
                </a:solidFill>
                <a:latin typeface="Arial" pitchFamily="34" charset="0"/>
                <a:ea typeface="Arial" pitchFamily="34" charset="-122"/>
                <a:cs typeface="Arial" pitchFamily="34" charset="-120"/>
              </a:rPr>
              <a:t>Librería:  </a:t>
            </a:r>
            <a:pPr indent="0" marL="0">
              <a:buNone/>
            </a:pPr>
            <a:r>
              <a:rPr lang="en-US" sz="1800" b="1" dirty="0">
                <a:solidFill>
                  <a:srgbClr val="38BDF8"/>
                </a:solidFill>
                <a:latin typeface="Arial" pitchFamily="34" charset="0"/>
                <a:ea typeface="Arial" pitchFamily="34" charset="-122"/>
                <a:cs typeface="Arial" pitchFamily="34" charset="-120"/>
              </a:rPr>
              <a:t>requests</a:t>
            </a:r>
            <a:pPr indent="0" marL="0">
              <a:buNone/>
            </a:pPr>
            <a:r>
              <a:rPr lang="en-US" sz="1800" dirty="0">
                <a:solidFill>
                  <a:srgbClr val="C9D8EE"/>
                </a:solidFill>
                <a:latin typeface="Arial" pitchFamily="34" charset="0"/>
                <a:ea typeface="Arial" pitchFamily="34" charset="-122"/>
                <a:cs typeface="Arial" pitchFamily="34" charset="-120"/>
              </a:rPr>
              <a:t>   ·   Consumo de APIs y datos desde internet</a:t>
            </a:r>
            <a:endParaRPr lang="en-US" sz="1800" dirty="0"/>
          </a:p>
        </p:txBody>
      </p:sp>
      <p:sp>
        <p:nvSpPr>
          <p:cNvPr id="8" name="Shape 5"/>
          <p:cNvSpPr/>
          <p:nvPr/>
        </p:nvSpPr>
        <p:spPr>
          <a:xfrm>
            <a:off x="822960" y="5074920"/>
            <a:ext cx="3840480" cy="0"/>
          </a:xfrm>
          <a:prstGeom prst="line">
            <a:avLst/>
          </a:prstGeom>
          <a:noFill/>
          <a:ln w="19050">
            <a:solidFill>
              <a:srgbClr val="1D6FE0"/>
            </a:solidFill>
            <a:prstDash val="solid"/>
          </a:ln>
        </p:spPr>
      </p:sp>
      <p:sp>
        <p:nvSpPr>
          <p:cNvPr id="9" name="Text 6"/>
          <p:cNvSpPr/>
          <p:nvPr/>
        </p:nvSpPr>
        <p:spPr>
          <a:xfrm>
            <a:off x="777240" y="5257800"/>
            <a:ext cx="10058400" cy="457200"/>
          </a:xfrm>
          <a:prstGeom prst="rect">
            <a:avLst/>
          </a:prstGeom>
          <a:noFill/>
          <a:ln/>
        </p:spPr>
        <p:txBody>
          <a:bodyPr wrap="square" lIns="0" tIns="0" rIns="0" bIns="0" rtlCol="0" anchor="ctr"/>
          <a:lstStyle/>
          <a:p>
            <a:pPr indent="0" marL="0">
              <a:buNone/>
            </a:pPr>
            <a:r>
              <a:rPr lang="en-US" sz="1600" dirty="0">
                <a:solidFill>
                  <a:srgbClr val="9FB3D1"/>
                </a:solidFill>
                <a:latin typeface="Arial" pitchFamily="34" charset="0"/>
                <a:ea typeface="Arial" pitchFamily="34" charset="-122"/>
                <a:cs typeface="Arial" pitchFamily="34" charset="-120"/>
              </a:rPr>
              <a:t>Santiago  ·  Universidad Francisco Marroquín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lIns="0" tIns="0" rIns="0" bIns="0" rtlCol="0" anchor="ctr"/>
          <a:lstStyle/>
          <a:p>
            <a:pPr indent="0" marL="0">
              <a:buNone/>
            </a:pPr>
            <a:r>
              <a:rPr lang="en-US" sz="1300" b="1" spc="300" kern="0" dirty="0">
                <a:solidFill>
                  <a:srgbClr val="1D6FE0"/>
                </a:solidFill>
                <a:latin typeface="Arial" pitchFamily="34" charset="0"/>
                <a:ea typeface="Arial" pitchFamily="34" charset="-122"/>
                <a:cs typeface="Arial" pitchFamily="34" charset="-120"/>
              </a:rPr>
              <a:t>LA LIBRERÍA</a:t>
            </a:r>
            <a:endParaRPr lang="en-US" sz="1300" dirty="0"/>
          </a:p>
        </p:txBody>
      </p:sp>
      <p:sp>
        <p:nvSpPr>
          <p:cNvPr id="3" name="Text 1"/>
          <p:cNvSpPr/>
          <p:nvPr/>
        </p:nvSpPr>
        <p:spPr>
          <a:xfrm>
            <a:off x="640080" y="713232"/>
            <a:ext cx="10881360" cy="777240"/>
          </a:xfrm>
          <a:prstGeom prst="rect">
            <a:avLst/>
          </a:prstGeom>
          <a:noFill/>
          <a:ln/>
        </p:spPr>
        <p:txBody>
          <a:bodyPr wrap="square" lIns="0" tIns="0" rIns="0" bIns="0" rtlCol="0" anchor="ctr"/>
          <a:lstStyle/>
          <a:p>
            <a:pPr indent="0" marL="0">
              <a:buNone/>
            </a:pPr>
            <a:r>
              <a:rPr lang="en-US" sz="3300" b="1" dirty="0">
                <a:solidFill>
                  <a:srgbClr val="0F2240"/>
                </a:solidFill>
                <a:latin typeface="Cambria" pitchFamily="34" charset="0"/>
                <a:ea typeface="Cambria" pitchFamily="34" charset="-122"/>
                <a:cs typeface="Cambria" pitchFamily="34" charset="-120"/>
              </a:rPr>
              <a:t>¿Qué es requests y qué resuelve?</a:t>
            </a:r>
            <a:endParaRPr lang="en-US" sz="3300" dirty="0"/>
          </a:p>
        </p:txBody>
      </p:sp>
      <p:sp>
        <p:nvSpPr>
          <p:cNvPr id="4" name="Shape 2"/>
          <p:cNvSpPr/>
          <p:nvPr/>
        </p:nvSpPr>
        <p:spPr>
          <a:xfrm>
            <a:off x="640080" y="1783080"/>
            <a:ext cx="5486400" cy="4297680"/>
          </a:xfrm>
          <a:prstGeom prst="roundRect">
            <a:avLst>
              <a:gd name="adj" fmla="val 2553"/>
            </a:avLst>
          </a:prstGeom>
          <a:solidFill>
            <a:srgbClr val="FFFFFF"/>
          </a:solidFill>
          <a:ln/>
          <a:effectLst>
            <a:outerShdw sx="100000" sy="100000" kx="0" ky="0" algn="bl" rotWithShape="0" blurRad="114300" dist="38100" dir="5400000">
              <a:srgbClr val="0A1F3D">
                <a:alpha val="16000"/>
              </a:srgbClr>
            </a:outerShdw>
          </a:effectLst>
        </p:spPr>
      </p:sp>
      <p:sp>
        <p:nvSpPr>
          <p:cNvPr id="5" name="Text 3"/>
          <p:cNvSpPr/>
          <p:nvPr/>
        </p:nvSpPr>
        <p:spPr>
          <a:xfrm>
            <a:off x="1051560" y="2103120"/>
            <a:ext cx="4663440" cy="457200"/>
          </a:xfrm>
          <a:prstGeom prst="rect">
            <a:avLst/>
          </a:prstGeom>
          <a:noFill/>
          <a:ln/>
        </p:spPr>
        <p:txBody>
          <a:bodyPr wrap="square" lIns="0" tIns="0" rIns="0" bIns="0" rtlCol="0" anchor="ctr"/>
          <a:lstStyle/>
          <a:p>
            <a:pPr indent="0" marL="0">
              <a:buNone/>
            </a:pPr>
            <a:r>
              <a:rPr lang="en-US" sz="2000" b="1" dirty="0">
                <a:solidFill>
                  <a:srgbClr val="0F2240"/>
                </a:solidFill>
                <a:latin typeface="Cambria" pitchFamily="34" charset="0"/>
                <a:ea typeface="Cambria" pitchFamily="34" charset="-122"/>
                <a:cs typeface="Cambria" pitchFamily="34" charset="-120"/>
              </a:rPr>
              <a:t>El problema que resuelve</a:t>
            </a:r>
            <a:endParaRPr lang="en-US" sz="2000" dirty="0"/>
          </a:p>
        </p:txBody>
      </p:sp>
      <p:pic>
        <p:nvPicPr>
          <p:cNvPr id="6" name="Image 0" descr="preencoded.png">    </p:cNvPr>
          <p:cNvPicPr>
            <a:picLocks noChangeAspect="1"/>
          </p:cNvPicPr>
          <p:nvPr/>
        </p:nvPicPr>
        <p:blipFill>
          <a:blip r:embed="rId1"/>
          <a:stretch>
            <a:fillRect/>
          </a:stretch>
        </p:blipFill>
        <p:spPr>
          <a:xfrm>
            <a:off x="1051560" y="2734056"/>
            <a:ext cx="292608" cy="292608"/>
          </a:xfrm>
          <a:prstGeom prst="rect">
            <a:avLst/>
          </a:prstGeom>
        </p:spPr>
      </p:pic>
      <p:sp>
        <p:nvSpPr>
          <p:cNvPr id="7" name="Text 4"/>
          <p:cNvSpPr/>
          <p:nvPr/>
        </p:nvSpPr>
        <p:spPr>
          <a:xfrm>
            <a:off x="1508760" y="2642616"/>
            <a:ext cx="4206240" cy="365760"/>
          </a:xfrm>
          <a:prstGeom prst="rect">
            <a:avLst/>
          </a:prstGeom>
          <a:noFill/>
          <a:ln/>
        </p:spPr>
        <p:txBody>
          <a:bodyPr wrap="square" lIns="0" tIns="0" rIns="0" bIns="0" rtlCol="0" anchor="ctr"/>
          <a:lstStyle/>
          <a:p>
            <a:pPr indent="0" marL="0">
              <a:buNone/>
            </a:pPr>
            <a:r>
              <a:rPr lang="en-US" sz="1550" b="1" dirty="0">
                <a:solidFill>
                  <a:srgbClr val="0F2240"/>
                </a:solidFill>
                <a:latin typeface="Arial" pitchFamily="34" charset="0"/>
                <a:ea typeface="Arial" pitchFamily="34" charset="-122"/>
                <a:cs typeface="Arial" pitchFamily="34" charset="-120"/>
              </a:rPr>
              <a:t>Python no habla con internet solo</a:t>
            </a:r>
            <a:endParaRPr lang="en-US" sz="1550" dirty="0"/>
          </a:p>
        </p:txBody>
      </p:sp>
      <p:sp>
        <p:nvSpPr>
          <p:cNvPr id="8" name="Text 5"/>
          <p:cNvSpPr/>
          <p:nvPr/>
        </p:nvSpPr>
        <p:spPr>
          <a:xfrm>
            <a:off x="1508760" y="2999232"/>
            <a:ext cx="4251960" cy="640080"/>
          </a:xfrm>
          <a:prstGeom prst="rect">
            <a:avLst/>
          </a:prstGeom>
          <a:noFill/>
          <a:ln/>
        </p:spPr>
        <p:txBody>
          <a:bodyPr wrap="square" lIns="0" tIns="0" rIns="0" bIns="0" rtlCol="0" anchor="ctr"/>
          <a:lstStyle/>
          <a:p>
            <a:pPr indent="0" marL="0">
              <a:buNone/>
            </a:pPr>
            <a:r>
              <a:rPr lang="en-US" sz="1250" dirty="0">
                <a:solidFill>
                  <a:srgbClr val="5B6B82"/>
                </a:solidFill>
                <a:latin typeface="Arial" pitchFamily="34" charset="0"/>
                <a:ea typeface="Arial" pitchFamily="34" charset="-122"/>
                <a:cs typeface="Arial" pitchFamily="34" charset="-120"/>
              </a:rPr>
              <a:t>Sin una librería externa, no puede pedir ni enviar datos a ninguna API.</a:t>
            </a:r>
            <a:endParaRPr lang="en-US" sz="1250" dirty="0"/>
          </a:p>
        </p:txBody>
      </p:sp>
      <p:pic>
        <p:nvPicPr>
          <p:cNvPr id="9" name="Image 1" descr="preencoded.png">    </p:cNvPr>
          <p:cNvPicPr>
            <a:picLocks noChangeAspect="1"/>
          </p:cNvPicPr>
          <p:nvPr/>
        </p:nvPicPr>
        <p:blipFill>
          <a:blip r:embed="rId2"/>
          <a:stretch>
            <a:fillRect/>
          </a:stretch>
        </p:blipFill>
        <p:spPr>
          <a:xfrm>
            <a:off x="1051560" y="3813048"/>
            <a:ext cx="292608" cy="292608"/>
          </a:xfrm>
          <a:prstGeom prst="rect">
            <a:avLst/>
          </a:prstGeom>
        </p:spPr>
      </p:pic>
      <p:sp>
        <p:nvSpPr>
          <p:cNvPr id="10" name="Text 6"/>
          <p:cNvSpPr/>
          <p:nvPr/>
        </p:nvSpPr>
        <p:spPr>
          <a:xfrm>
            <a:off x="1508760" y="3721608"/>
            <a:ext cx="4206240" cy="365760"/>
          </a:xfrm>
          <a:prstGeom prst="rect">
            <a:avLst/>
          </a:prstGeom>
          <a:noFill/>
          <a:ln/>
        </p:spPr>
        <p:txBody>
          <a:bodyPr wrap="square" lIns="0" tIns="0" rIns="0" bIns="0" rtlCol="0" anchor="ctr"/>
          <a:lstStyle/>
          <a:p>
            <a:pPr indent="0" marL="0">
              <a:buNone/>
            </a:pPr>
            <a:r>
              <a:rPr lang="en-US" sz="1550" b="1" dirty="0">
                <a:solidFill>
                  <a:srgbClr val="0F2240"/>
                </a:solidFill>
                <a:latin typeface="Arial" pitchFamily="34" charset="0"/>
                <a:ea typeface="Arial" pitchFamily="34" charset="-122"/>
                <a:cs typeface="Arial" pitchFamily="34" charset="-120"/>
              </a:rPr>
              <a:t>requests le da ese poder</a:t>
            </a:r>
            <a:endParaRPr lang="en-US" sz="1550" dirty="0"/>
          </a:p>
        </p:txBody>
      </p:sp>
      <p:sp>
        <p:nvSpPr>
          <p:cNvPr id="11" name="Text 7"/>
          <p:cNvSpPr/>
          <p:nvPr/>
        </p:nvSpPr>
        <p:spPr>
          <a:xfrm>
            <a:off x="1508760" y="4078224"/>
            <a:ext cx="4251960" cy="640080"/>
          </a:xfrm>
          <a:prstGeom prst="rect">
            <a:avLst/>
          </a:prstGeom>
          <a:noFill/>
          <a:ln/>
        </p:spPr>
        <p:txBody>
          <a:bodyPr wrap="square" lIns="0" tIns="0" rIns="0" bIns="0" rtlCol="0" anchor="ctr"/>
          <a:lstStyle/>
          <a:p>
            <a:pPr indent="0" marL="0">
              <a:buNone/>
            </a:pPr>
            <a:r>
              <a:rPr lang="en-US" sz="1250" dirty="0">
                <a:solidFill>
                  <a:srgbClr val="5B6B82"/>
                </a:solidFill>
                <a:latin typeface="Arial" pitchFamily="34" charset="0"/>
                <a:ea typeface="Arial" pitchFamily="34" charset="-122"/>
                <a:cs typeface="Arial" pitchFamily="34" charset="-120"/>
              </a:rPr>
              <a:t>Es la herramienta estándar para conectarse con servidores del mundo.</a:t>
            </a:r>
            <a:endParaRPr lang="en-US" sz="1250" dirty="0"/>
          </a:p>
        </p:txBody>
      </p:sp>
      <p:pic>
        <p:nvPicPr>
          <p:cNvPr id="12" name="Image 2" descr="preencoded.png">    </p:cNvPr>
          <p:cNvPicPr>
            <a:picLocks noChangeAspect="1"/>
          </p:cNvPicPr>
          <p:nvPr/>
        </p:nvPicPr>
        <p:blipFill>
          <a:blip r:embed="rId3"/>
          <a:stretch>
            <a:fillRect/>
          </a:stretch>
        </p:blipFill>
        <p:spPr>
          <a:xfrm>
            <a:off x="1051560" y="4892040"/>
            <a:ext cx="292608" cy="292608"/>
          </a:xfrm>
          <a:prstGeom prst="rect">
            <a:avLst/>
          </a:prstGeom>
        </p:spPr>
      </p:pic>
      <p:sp>
        <p:nvSpPr>
          <p:cNvPr id="13" name="Text 8"/>
          <p:cNvSpPr/>
          <p:nvPr/>
        </p:nvSpPr>
        <p:spPr>
          <a:xfrm>
            <a:off x="1508760" y="4800600"/>
            <a:ext cx="4206240" cy="365760"/>
          </a:xfrm>
          <a:prstGeom prst="rect">
            <a:avLst/>
          </a:prstGeom>
          <a:noFill/>
          <a:ln/>
        </p:spPr>
        <p:txBody>
          <a:bodyPr wrap="square" lIns="0" tIns="0" rIns="0" bIns="0" rtlCol="0" anchor="ctr"/>
          <a:lstStyle/>
          <a:p>
            <a:pPr indent="0" marL="0">
              <a:buNone/>
            </a:pPr>
            <a:r>
              <a:rPr lang="en-US" sz="1550" b="1" dirty="0">
                <a:solidFill>
                  <a:srgbClr val="0F2240"/>
                </a:solidFill>
                <a:latin typeface="Arial" pitchFamily="34" charset="0"/>
                <a:ea typeface="Arial" pitchFamily="34" charset="-122"/>
                <a:cs typeface="Arial" pitchFamily="34" charset="-120"/>
              </a:rPr>
              <a:t>En 3 líneas ya traés datos reales</a:t>
            </a:r>
            <a:endParaRPr lang="en-US" sz="1550" dirty="0"/>
          </a:p>
        </p:txBody>
      </p:sp>
      <p:sp>
        <p:nvSpPr>
          <p:cNvPr id="14" name="Text 9"/>
          <p:cNvSpPr/>
          <p:nvPr/>
        </p:nvSpPr>
        <p:spPr>
          <a:xfrm>
            <a:off x="1508760" y="5157216"/>
            <a:ext cx="4251960" cy="640080"/>
          </a:xfrm>
          <a:prstGeom prst="rect">
            <a:avLst/>
          </a:prstGeom>
          <a:noFill/>
          <a:ln/>
        </p:spPr>
        <p:txBody>
          <a:bodyPr wrap="square" lIns="0" tIns="0" rIns="0" bIns="0" rtlCol="0" anchor="ctr"/>
          <a:lstStyle/>
          <a:p>
            <a:pPr indent="0" marL="0">
              <a:buNone/>
            </a:pPr>
            <a:r>
              <a:rPr lang="en-US" sz="1250" dirty="0">
                <a:solidFill>
                  <a:srgbClr val="5B6B82"/>
                </a:solidFill>
                <a:latin typeface="Arial" pitchFamily="34" charset="0"/>
                <a:ea typeface="Arial" pitchFamily="34" charset="-122"/>
                <a:cs typeface="Arial" pitchFamily="34" charset="-120"/>
              </a:rPr>
              <a:t>Pedís, recibís y convertís la respuesta en algo que Python entiende.</a:t>
            </a:r>
            <a:endParaRPr lang="en-US" sz="1250" dirty="0"/>
          </a:p>
        </p:txBody>
      </p:sp>
      <p:sp>
        <p:nvSpPr>
          <p:cNvPr id="15" name="Shape 10"/>
          <p:cNvSpPr/>
          <p:nvPr/>
        </p:nvSpPr>
        <p:spPr>
          <a:xfrm>
            <a:off x="6400800" y="1783080"/>
            <a:ext cx="5120640" cy="4297680"/>
          </a:xfrm>
          <a:prstGeom prst="roundRect">
            <a:avLst>
              <a:gd name="adj" fmla="val 2553"/>
            </a:avLst>
          </a:prstGeom>
          <a:solidFill>
            <a:srgbClr val="0A1F3D"/>
          </a:solidFill>
          <a:ln/>
          <a:effectLst>
            <a:outerShdw sx="100000" sy="100000" kx="0" ky="0" algn="bl" rotWithShape="0" blurRad="114300" dist="38100" dir="5400000">
              <a:srgbClr val="0A1F3D">
                <a:alpha val="16000"/>
              </a:srgbClr>
            </a:outerShdw>
          </a:effectLst>
        </p:spPr>
      </p:sp>
      <p:pic>
        <p:nvPicPr>
          <p:cNvPr id="16" name="Image 3" descr="preencoded.png">    </p:cNvPr>
          <p:cNvPicPr>
            <a:picLocks noChangeAspect="1"/>
          </p:cNvPicPr>
          <p:nvPr/>
        </p:nvPicPr>
        <p:blipFill>
          <a:blip r:embed="rId4"/>
          <a:stretch>
            <a:fillRect/>
          </a:stretch>
        </p:blipFill>
        <p:spPr>
          <a:xfrm>
            <a:off x="6812280" y="2103120"/>
            <a:ext cx="365760" cy="365760"/>
          </a:xfrm>
          <a:prstGeom prst="rect">
            <a:avLst/>
          </a:prstGeom>
        </p:spPr>
      </p:pic>
      <p:sp>
        <p:nvSpPr>
          <p:cNvPr id="17" name="Text 11"/>
          <p:cNvSpPr/>
          <p:nvPr/>
        </p:nvSpPr>
        <p:spPr>
          <a:xfrm>
            <a:off x="7315200" y="2121408"/>
            <a:ext cx="3931920" cy="365760"/>
          </a:xfrm>
          <a:prstGeom prst="rect">
            <a:avLst/>
          </a:prstGeom>
          <a:noFill/>
          <a:ln/>
        </p:spPr>
        <p:txBody>
          <a:bodyPr wrap="square" lIns="0" tIns="0" rIns="0" bIns="0" rtlCol="0" anchor="ctr"/>
          <a:lstStyle/>
          <a:p>
            <a:pPr indent="0" marL="0">
              <a:buNone/>
            </a:pPr>
            <a:r>
              <a:rPr lang="en-US" sz="1400" b="1" dirty="0">
                <a:solidFill>
                  <a:srgbClr val="38BDF8"/>
                </a:solidFill>
                <a:latin typeface="Arial" pitchFamily="34" charset="0"/>
                <a:ea typeface="Arial" pitchFamily="34" charset="-122"/>
                <a:cs typeface="Arial" pitchFamily="34" charset="-120"/>
              </a:rPr>
              <a:t>Así de simple se ve en código</a:t>
            </a:r>
            <a:endParaRPr lang="en-US" sz="1400" dirty="0"/>
          </a:p>
        </p:txBody>
      </p:sp>
      <p:sp>
        <p:nvSpPr>
          <p:cNvPr id="18" name="Text 12"/>
          <p:cNvSpPr/>
          <p:nvPr/>
        </p:nvSpPr>
        <p:spPr>
          <a:xfrm>
            <a:off x="6812280" y="2697480"/>
            <a:ext cx="4297680" cy="3108960"/>
          </a:xfrm>
          <a:prstGeom prst="rect">
            <a:avLst/>
          </a:prstGeom>
          <a:noFill/>
          <a:ln/>
        </p:spPr>
        <p:txBody>
          <a:bodyPr wrap="square" lIns="0" tIns="0" rIns="0" bIns="0" rtlCol="0" anchor="ctr"/>
          <a:lstStyle/>
          <a:p>
            <a:pPr indent="0" marL="0">
              <a:lnSpc>
                <a:spcPts val="2400"/>
              </a:lnSpc>
              <a:buNone/>
            </a:pPr>
            <a:r>
              <a:rPr lang="en-US" sz="1550" dirty="0">
                <a:solidFill>
                  <a:srgbClr val="38BDF8"/>
                </a:solidFill>
                <a:latin typeface="Courier New" pitchFamily="34" charset="0"/>
                <a:ea typeface="Courier New" pitchFamily="34" charset="-122"/>
                <a:cs typeface="Courier New" pitchFamily="34" charset="-120"/>
              </a:rPr>
              <a:t>import </a:t>
            </a:r>
            <a:pPr indent="0" marL="0">
              <a:lnSpc>
                <a:spcPts val="2400"/>
              </a:lnSpc>
              <a:buNone/>
            </a:pPr>
            <a:r>
              <a:rPr lang="en-US" sz="1550" dirty="0">
                <a:solidFill>
                  <a:srgbClr val="FFFFFF"/>
                </a:solidFill>
                <a:latin typeface="Courier New" pitchFamily="34" charset="0"/>
                <a:ea typeface="Courier New" pitchFamily="34" charset="-122"/>
                <a:cs typeface="Courier New" pitchFamily="34" charset="-120"/>
              </a:rPr>
              <a:t>requests
</a:t>
            </a:r>
            <a:pPr indent="0" marL="0">
              <a:lnSpc>
                <a:spcPts val="2400"/>
              </a:lnSpc>
              <a:buNone/>
            </a:pPr>
            <a:r>
              <a:rPr lang="en-US" sz="1550" dirty="0">
                <a:solidFill>
                  <a:srgbClr val="7E93B5"/>
                </a:solidFill>
                <a:latin typeface="Courier New" pitchFamily="34" charset="0"/>
                <a:ea typeface="Courier New" pitchFamily="34" charset="-122"/>
                <a:cs typeface="Courier New" pitchFamily="34" charset="-120"/>
              </a:rPr>
              <a:t># Pedir datos a una API
</a:t>
            </a:r>
            <a:pPr indent="0" marL="0">
              <a:lnSpc>
                <a:spcPts val="2400"/>
              </a:lnSpc>
              <a:buNone/>
            </a:pPr>
            <a:r>
              <a:rPr lang="en-US" sz="1550" dirty="0">
                <a:solidFill>
                  <a:srgbClr val="E6EEFA"/>
                </a:solidFill>
                <a:latin typeface="Courier New" pitchFamily="34" charset="0"/>
                <a:ea typeface="Courier New" pitchFamily="34" charset="-122"/>
                <a:cs typeface="Courier New" pitchFamily="34" charset="-120"/>
              </a:rPr>
              <a:t>resp  = requests.</a:t>
            </a:r>
            <a:pPr indent="0" marL="0">
              <a:lnSpc>
                <a:spcPts val="2400"/>
              </a:lnSpc>
              <a:buNone/>
            </a:pPr>
            <a:r>
              <a:rPr lang="en-US" sz="1550" dirty="0">
                <a:solidFill>
                  <a:srgbClr val="38BDF8"/>
                </a:solidFill>
                <a:latin typeface="Courier New" pitchFamily="34" charset="0"/>
                <a:ea typeface="Courier New" pitchFamily="34" charset="-122"/>
                <a:cs typeface="Courier New" pitchFamily="34" charset="-120"/>
              </a:rPr>
              <a:t>get</a:t>
            </a:r>
            <a:pPr indent="0" marL="0">
              <a:lnSpc>
                <a:spcPts val="2400"/>
              </a:lnSpc>
              <a:buNone/>
            </a:pPr>
            <a:r>
              <a:rPr lang="en-US" sz="1550" dirty="0">
                <a:solidFill>
                  <a:srgbClr val="E6EEFA"/>
                </a:solidFill>
                <a:latin typeface="Courier New" pitchFamily="34" charset="0"/>
                <a:ea typeface="Courier New" pitchFamily="34" charset="-122"/>
                <a:cs typeface="Courier New" pitchFamily="34" charset="-120"/>
              </a:rPr>
              <a:t>(url)
</a:t>
            </a:r>
            <a:pPr indent="0" marL="0">
              <a:lnSpc>
                <a:spcPts val="2400"/>
              </a:lnSpc>
              <a:buNone/>
            </a:pPr>
            <a:r>
              <a:rPr lang="en-US" sz="1550" dirty="0">
                <a:solidFill>
                  <a:srgbClr val="E6EEFA"/>
                </a:solidFill>
                <a:latin typeface="Courier New" pitchFamily="34" charset="0"/>
                <a:ea typeface="Courier New" pitchFamily="34" charset="-122"/>
                <a:cs typeface="Courier New" pitchFamily="34" charset="-120"/>
              </a:rPr>
              <a:t>datos = resp.</a:t>
            </a:r>
            <a:pPr indent="0" marL="0">
              <a:lnSpc>
                <a:spcPts val="2400"/>
              </a:lnSpc>
              <a:buNone/>
            </a:pPr>
            <a:r>
              <a:rPr lang="en-US" sz="1550" dirty="0">
                <a:solidFill>
                  <a:srgbClr val="38BDF8"/>
                </a:solidFill>
                <a:latin typeface="Courier New" pitchFamily="34" charset="0"/>
                <a:ea typeface="Courier New" pitchFamily="34" charset="-122"/>
                <a:cs typeface="Courier New" pitchFamily="34" charset="-120"/>
              </a:rPr>
              <a:t>json</a:t>
            </a:r>
            <a:pPr indent="0" marL="0">
              <a:lnSpc>
                <a:spcPts val="2400"/>
              </a:lnSpc>
              <a:buNone/>
            </a:pPr>
            <a:r>
              <a:rPr lang="en-US" sz="1550" dirty="0">
                <a:solidFill>
                  <a:srgbClr val="E6EEFA"/>
                </a:solidFill>
                <a:latin typeface="Courier New" pitchFamily="34" charset="0"/>
                <a:ea typeface="Courier New" pitchFamily="34" charset="-122"/>
                <a:cs typeface="Courier New" pitchFamily="34" charset="-120"/>
              </a:rPr>
              <a:t>()
</a:t>
            </a:r>
            <a:pPr indent="0" marL="0">
              <a:lnSpc>
                <a:spcPts val="2400"/>
              </a:lnSpc>
              <a:buNone/>
            </a:pPr>
            <a:r>
              <a:rPr lang="en-US" sz="1550" dirty="0">
                <a:solidFill>
                  <a:srgbClr val="7E93B5"/>
                </a:solidFill>
                <a:latin typeface="Courier New" pitchFamily="34" charset="0"/>
                <a:ea typeface="Courier New" pitchFamily="34" charset="-122"/>
                <a:cs typeface="Courier New" pitchFamily="34" charset="-120"/>
              </a:rPr>
              <a:t># Ya tengo un diccionario
</a:t>
            </a:r>
            <a:pPr indent="0" marL="0">
              <a:lnSpc>
                <a:spcPts val="2400"/>
              </a:lnSpc>
              <a:buNone/>
            </a:pPr>
            <a:r>
              <a:rPr lang="en-US" sz="1550" dirty="0">
                <a:solidFill>
                  <a:srgbClr val="7E93B5"/>
                </a:solidFill>
                <a:latin typeface="Courier New" pitchFamily="34" charset="0"/>
                <a:ea typeface="Courier New" pitchFamily="34" charset="-122"/>
                <a:cs typeface="Courier New" pitchFamily="34" charset="-120"/>
              </a:rPr>
              <a:t># listo para usar</a:t>
            </a:r>
            <a:endParaRPr lang="en-US" sz="1550" dirty="0"/>
          </a:p>
        </p:txBody>
      </p:sp>
      <p:sp>
        <p:nvSpPr>
          <p:cNvPr id="19" name="Text 13"/>
          <p:cNvSpPr/>
          <p:nvPr/>
        </p:nvSpPr>
        <p:spPr>
          <a:xfrm>
            <a:off x="6812280" y="5486400"/>
            <a:ext cx="4297680" cy="365760"/>
          </a:xfrm>
          <a:prstGeom prst="rect">
            <a:avLst/>
          </a:prstGeom>
          <a:noFill/>
          <a:ln/>
        </p:spPr>
        <p:txBody>
          <a:bodyPr wrap="square" lIns="0" tIns="0" rIns="0" bIns="0" rtlCol="0" anchor="ctr"/>
          <a:lstStyle/>
          <a:p>
            <a:pPr indent="0" marL="0">
              <a:buNone/>
            </a:pPr>
            <a:r>
              <a:rPr lang="en-US" sz="1300" dirty="0">
                <a:solidFill>
                  <a:srgbClr val="9FB3D1"/>
                </a:solidFill>
                <a:latin typeface="Arial" pitchFamily="34" charset="0"/>
                <a:ea typeface="Arial" pitchFamily="34" charset="-122"/>
                <a:cs typeface="Arial" pitchFamily="34" charset="-120"/>
              </a:rPr>
              <a:t>Instalación:  </a:t>
            </a:r>
            <a:pPr indent="0" marL="0">
              <a:buNone/>
            </a:pPr>
            <a:r>
              <a:rPr lang="en-US" sz="1300" b="1" dirty="0">
                <a:solidFill>
                  <a:srgbClr val="38BDF8"/>
                </a:solidFill>
                <a:latin typeface="Courier New" pitchFamily="34" charset="0"/>
                <a:ea typeface="Courier New" pitchFamily="34" charset="-122"/>
                <a:cs typeface="Courier New" pitchFamily="34" charset="-120"/>
              </a:rPr>
              <a:t>pip install requests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lIns="0" tIns="0" rIns="0" bIns="0" rtlCol="0" anchor="ctr"/>
          <a:lstStyle/>
          <a:p>
            <a:pPr indent="0" marL="0">
              <a:buNone/>
            </a:pPr>
            <a:r>
              <a:rPr lang="en-US" sz="1300" b="1" spc="300" kern="0" dirty="0">
                <a:solidFill>
                  <a:srgbClr val="1D6FE0"/>
                </a:solidFill>
                <a:latin typeface="Arial" pitchFamily="34" charset="0"/>
                <a:ea typeface="Arial" pitchFamily="34" charset="-122"/>
                <a:cs typeface="Arial" pitchFamily="34" charset="-120"/>
              </a:rPr>
              <a:t>MI CASO DE USO</a:t>
            </a:r>
            <a:endParaRPr lang="en-US" sz="1300" dirty="0"/>
          </a:p>
        </p:txBody>
      </p:sp>
      <p:sp>
        <p:nvSpPr>
          <p:cNvPr id="3" name="Text 1"/>
          <p:cNvSpPr/>
          <p:nvPr/>
        </p:nvSpPr>
        <p:spPr>
          <a:xfrm>
            <a:off x="640080" y="713232"/>
            <a:ext cx="10881360" cy="777240"/>
          </a:xfrm>
          <a:prstGeom prst="rect">
            <a:avLst/>
          </a:prstGeom>
          <a:noFill/>
          <a:ln/>
        </p:spPr>
        <p:txBody>
          <a:bodyPr wrap="square" lIns="0" tIns="0" rIns="0" bIns="0" rtlCol="0" anchor="ctr"/>
          <a:lstStyle/>
          <a:p>
            <a:pPr indent="0" marL="0">
              <a:buNone/>
            </a:pPr>
            <a:r>
              <a:rPr lang="en-US" sz="3300" b="1" dirty="0">
                <a:solidFill>
                  <a:srgbClr val="0F2240"/>
                </a:solidFill>
                <a:latin typeface="Cambria" pitchFamily="34" charset="0"/>
                <a:ea typeface="Cambria" pitchFamily="34" charset="-122"/>
                <a:cs typeface="Cambria" pitchFamily="34" charset="-120"/>
              </a:rPr>
              <a:t>El Dashboard: 4 APIs en una terminal</a:t>
            </a:r>
            <a:endParaRPr lang="en-US" sz="3300" dirty="0"/>
          </a:p>
        </p:txBody>
      </p:sp>
      <p:sp>
        <p:nvSpPr>
          <p:cNvPr id="4" name="Shape 2"/>
          <p:cNvSpPr/>
          <p:nvPr/>
        </p:nvSpPr>
        <p:spPr>
          <a:xfrm>
            <a:off x="8418782" y="1536192"/>
            <a:ext cx="3212386" cy="4745736"/>
          </a:xfrm>
          <a:prstGeom prst="roundRect">
            <a:avLst>
              <a:gd name="adj" fmla="val 2277"/>
            </a:avLst>
          </a:prstGeom>
          <a:solidFill>
            <a:srgbClr val="0A1F3D"/>
          </a:solidFill>
          <a:ln/>
          <a:effectLst>
            <a:outerShdw sx="100000" sy="100000" kx="0" ky="0" algn="bl" rotWithShape="0" blurRad="114300" dist="38100" dir="5400000">
              <a:srgbClr val="0A1F3D">
                <a:alpha val="16000"/>
              </a:srgbClr>
            </a:outerShdw>
          </a:effectLst>
        </p:spPr>
      </p:sp>
      <p:pic>
        <p:nvPicPr>
          <p:cNvPr id="5" name="Image 0" descr="images/terminal.png">    </p:cNvPr>
          <p:cNvPicPr>
            <a:picLocks noChangeAspect="1"/>
          </p:cNvPicPr>
          <p:nvPr/>
        </p:nvPicPr>
        <p:blipFill>
          <a:blip r:embed="rId1"/>
          <a:stretch>
            <a:fillRect/>
          </a:stretch>
        </p:blipFill>
        <p:spPr>
          <a:xfrm>
            <a:off x="8528510" y="1645920"/>
            <a:ext cx="2992930" cy="4526280"/>
          </a:xfrm>
          <a:prstGeom prst="rect">
            <a:avLst/>
          </a:prstGeom>
        </p:spPr>
      </p:pic>
      <p:sp>
        <p:nvSpPr>
          <p:cNvPr id="6" name="Text 3"/>
          <p:cNvSpPr/>
          <p:nvPr/>
        </p:nvSpPr>
        <p:spPr>
          <a:xfrm>
            <a:off x="8418782" y="6318504"/>
            <a:ext cx="3212386" cy="292608"/>
          </a:xfrm>
          <a:prstGeom prst="rect">
            <a:avLst/>
          </a:prstGeom>
          <a:noFill/>
          <a:ln/>
        </p:spPr>
        <p:txBody>
          <a:bodyPr wrap="square" lIns="0" tIns="0" rIns="0" bIns="0" rtlCol="0" anchor="ctr"/>
          <a:lstStyle/>
          <a:p>
            <a:pPr algn="ctr" indent="0" marL="0">
              <a:buNone/>
            </a:pPr>
            <a:r>
              <a:rPr lang="en-US" sz="1150" i="1" dirty="0">
                <a:solidFill>
                  <a:srgbClr val="5B6B82"/>
                </a:solidFill>
                <a:latin typeface="Arial" pitchFamily="34" charset="0"/>
                <a:ea typeface="Arial" pitchFamily="34" charset="-122"/>
                <a:cs typeface="Arial" pitchFamily="34" charset="-120"/>
              </a:rPr>
              <a:t>El programa corriendo en vivo</a:t>
            </a:r>
            <a:endParaRPr lang="en-US" sz="1150" dirty="0"/>
          </a:p>
        </p:txBody>
      </p:sp>
      <p:sp>
        <p:nvSpPr>
          <p:cNvPr id="7" name="Shape 4"/>
          <p:cNvSpPr/>
          <p:nvPr/>
        </p:nvSpPr>
        <p:spPr>
          <a:xfrm>
            <a:off x="640080" y="1828800"/>
            <a:ext cx="7614110" cy="786384"/>
          </a:xfrm>
          <a:prstGeom prst="roundRect">
            <a:avLst>
              <a:gd name="adj" fmla="val 9302"/>
            </a:avLst>
          </a:prstGeom>
          <a:solidFill>
            <a:srgbClr val="FFFFFF"/>
          </a:solidFill>
          <a:ln/>
          <a:effectLst>
            <a:outerShdw sx="100000" sy="100000" kx="0" ky="0" algn="bl" rotWithShape="0" blurRad="114300" dist="38100" dir="5400000">
              <a:srgbClr val="0A1F3D">
                <a:alpha val="16000"/>
              </a:srgbClr>
            </a:outerShdw>
          </a:effectLst>
        </p:spPr>
      </p:sp>
      <p:sp>
        <p:nvSpPr>
          <p:cNvPr id="8" name="Shape 5"/>
          <p:cNvSpPr/>
          <p:nvPr/>
        </p:nvSpPr>
        <p:spPr>
          <a:xfrm>
            <a:off x="804672" y="2011680"/>
            <a:ext cx="420624" cy="420624"/>
          </a:xfrm>
          <a:prstGeom prst="ellipse">
            <a:avLst/>
          </a:prstGeom>
          <a:solidFill>
            <a:srgbClr val="EAF1FB"/>
          </a:solidFill>
          <a:ln/>
        </p:spPr>
      </p:sp>
      <p:pic>
        <p:nvPicPr>
          <p:cNvPr id="9" name="Image 1" descr="preencoded.png">    </p:cNvPr>
          <p:cNvPicPr>
            <a:picLocks noChangeAspect="1"/>
          </p:cNvPicPr>
          <p:nvPr/>
        </p:nvPicPr>
        <p:blipFill>
          <a:blip r:embed="rId2"/>
          <a:stretch>
            <a:fillRect/>
          </a:stretch>
        </p:blipFill>
        <p:spPr>
          <a:xfrm>
            <a:off x="896112" y="2103120"/>
            <a:ext cx="237744" cy="237744"/>
          </a:xfrm>
          <a:prstGeom prst="rect">
            <a:avLst/>
          </a:prstGeom>
        </p:spPr>
      </p:pic>
      <p:sp>
        <p:nvSpPr>
          <p:cNvPr id="10" name="Text 6"/>
          <p:cNvSpPr/>
          <p:nvPr/>
        </p:nvSpPr>
        <p:spPr>
          <a:xfrm>
            <a:off x="1389888" y="1938528"/>
            <a:ext cx="6699710" cy="310896"/>
          </a:xfrm>
          <a:prstGeom prst="rect">
            <a:avLst/>
          </a:prstGeom>
          <a:noFill/>
          <a:ln/>
        </p:spPr>
        <p:txBody>
          <a:bodyPr wrap="square" lIns="0" tIns="0" rIns="0" bIns="0" rtlCol="0" anchor="ctr"/>
          <a:lstStyle/>
          <a:p>
            <a:pPr indent="0" marL="0">
              <a:buNone/>
            </a:pPr>
            <a:r>
              <a:rPr lang="en-US" sz="1450" b="1" dirty="0">
                <a:solidFill>
                  <a:srgbClr val="0F2240"/>
                </a:solidFill>
                <a:latin typeface="Arial" pitchFamily="34" charset="0"/>
                <a:ea typeface="Arial" pitchFamily="34" charset="-122"/>
                <a:cs typeface="Arial" pitchFamily="34" charset="-120"/>
              </a:rPr>
              <a:t>Clima en vivo</a:t>
            </a:r>
            <a:endParaRPr lang="en-US" sz="1450" dirty="0"/>
          </a:p>
        </p:txBody>
      </p:sp>
      <p:sp>
        <p:nvSpPr>
          <p:cNvPr id="11" name="Text 7"/>
          <p:cNvSpPr/>
          <p:nvPr/>
        </p:nvSpPr>
        <p:spPr>
          <a:xfrm>
            <a:off x="1389888" y="2231136"/>
            <a:ext cx="6699710" cy="329184"/>
          </a:xfrm>
          <a:prstGeom prst="rect">
            <a:avLst/>
          </a:prstGeom>
          <a:noFill/>
          <a:ln/>
        </p:spPr>
        <p:txBody>
          <a:bodyPr wrap="square" lIns="0" tIns="0" rIns="0" bIns="0" rtlCol="0" anchor="ctr"/>
          <a:lstStyle/>
          <a:p>
            <a:pPr indent="0" marL="0">
              <a:buNone/>
            </a:pPr>
            <a:r>
              <a:rPr lang="en-US" sz="1080" dirty="0">
                <a:solidFill>
                  <a:srgbClr val="5B6B82"/>
                </a:solidFill>
                <a:latin typeface="Arial" pitchFamily="34" charset="0"/>
                <a:ea typeface="Arial" pitchFamily="34" charset="-122"/>
                <a:cs typeface="Arial" pitchFamily="34" charset="-120"/>
              </a:rPr>
              <a:t>OpenWeatherMap · temperatura, humedad y condición de Guatemala City</a:t>
            </a:r>
            <a:endParaRPr lang="en-US" sz="1080" dirty="0"/>
          </a:p>
        </p:txBody>
      </p:sp>
      <p:sp>
        <p:nvSpPr>
          <p:cNvPr id="12" name="Shape 8"/>
          <p:cNvSpPr/>
          <p:nvPr/>
        </p:nvSpPr>
        <p:spPr>
          <a:xfrm>
            <a:off x="640080" y="2706624"/>
            <a:ext cx="7614110" cy="786384"/>
          </a:xfrm>
          <a:prstGeom prst="roundRect">
            <a:avLst>
              <a:gd name="adj" fmla="val 9302"/>
            </a:avLst>
          </a:prstGeom>
          <a:solidFill>
            <a:srgbClr val="FFFFFF"/>
          </a:solidFill>
          <a:ln/>
          <a:effectLst>
            <a:outerShdw sx="100000" sy="100000" kx="0" ky="0" algn="bl" rotWithShape="0" blurRad="114300" dist="38100" dir="5400000">
              <a:srgbClr val="0A1F3D">
                <a:alpha val="16000"/>
              </a:srgbClr>
            </a:outerShdw>
          </a:effectLst>
        </p:spPr>
      </p:sp>
      <p:sp>
        <p:nvSpPr>
          <p:cNvPr id="13" name="Shape 9"/>
          <p:cNvSpPr/>
          <p:nvPr/>
        </p:nvSpPr>
        <p:spPr>
          <a:xfrm>
            <a:off x="804672" y="2889504"/>
            <a:ext cx="420624" cy="420624"/>
          </a:xfrm>
          <a:prstGeom prst="ellipse">
            <a:avLst/>
          </a:prstGeom>
          <a:solidFill>
            <a:srgbClr val="EAF1FB"/>
          </a:solidFill>
          <a:ln/>
        </p:spPr>
      </p:sp>
      <p:pic>
        <p:nvPicPr>
          <p:cNvPr id="14" name="Image 2" descr="preencoded.png">    </p:cNvPr>
          <p:cNvPicPr>
            <a:picLocks noChangeAspect="1"/>
          </p:cNvPicPr>
          <p:nvPr/>
        </p:nvPicPr>
        <p:blipFill>
          <a:blip r:embed="rId3"/>
          <a:stretch>
            <a:fillRect/>
          </a:stretch>
        </p:blipFill>
        <p:spPr>
          <a:xfrm>
            <a:off x="896112" y="2980944"/>
            <a:ext cx="237744" cy="237744"/>
          </a:xfrm>
          <a:prstGeom prst="rect">
            <a:avLst/>
          </a:prstGeom>
        </p:spPr>
      </p:pic>
      <p:sp>
        <p:nvSpPr>
          <p:cNvPr id="15" name="Text 10"/>
          <p:cNvSpPr/>
          <p:nvPr/>
        </p:nvSpPr>
        <p:spPr>
          <a:xfrm>
            <a:off x="1389888" y="2816352"/>
            <a:ext cx="6699710" cy="310896"/>
          </a:xfrm>
          <a:prstGeom prst="rect">
            <a:avLst/>
          </a:prstGeom>
          <a:noFill/>
          <a:ln/>
        </p:spPr>
        <p:txBody>
          <a:bodyPr wrap="square" lIns="0" tIns="0" rIns="0" bIns="0" rtlCol="0" anchor="ctr"/>
          <a:lstStyle/>
          <a:p>
            <a:pPr indent="0" marL="0">
              <a:buNone/>
            </a:pPr>
            <a:r>
              <a:rPr lang="en-US" sz="1450" b="1" dirty="0">
                <a:solidFill>
                  <a:srgbClr val="0F2240"/>
                </a:solidFill>
                <a:latin typeface="Arial" pitchFamily="34" charset="0"/>
                <a:ea typeface="Arial" pitchFamily="34" charset="-122"/>
                <a:cs typeface="Arial" pitchFamily="34" charset="-120"/>
              </a:rPr>
              <a:t>Tipo de cambio</a:t>
            </a:r>
            <a:endParaRPr lang="en-US" sz="1450" dirty="0"/>
          </a:p>
        </p:txBody>
      </p:sp>
      <p:sp>
        <p:nvSpPr>
          <p:cNvPr id="16" name="Text 11"/>
          <p:cNvSpPr/>
          <p:nvPr/>
        </p:nvSpPr>
        <p:spPr>
          <a:xfrm>
            <a:off x="1389888" y="3108960"/>
            <a:ext cx="6699710" cy="329184"/>
          </a:xfrm>
          <a:prstGeom prst="rect">
            <a:avLst/>
          </a:prstGeom>
          <a:noFill/>
          <a:ln/>
        </p:spPr>
        <p:txBody>
          <a:bodyPr wrap="square" lIns="0" tIns="0" rIns="0" bIns="0" rtlCol="0" anchor="ctr"/>
          <a:lstStyle/>
          <a:p>
            <a:pPr indent="0" marL="0">
              <a:buNone/>
            </a:pPr>
            <a:r>
              <a:rPr lang="en-US" sz="1080" dirty="0">
                <a:solidFill>
                  <a:srgbClr val="5B6B82"/>
                </a:solidFill>
                <a:latin typeface="Arial" pitchFamily="34" charset="0"/>
                <a:ea typeface="Arial" pitchFamily="34" charset="-122"/>
                <a:cs typeface="Arial" pitchFamily="34" charset="-120"/>
              </a:rPr>
              <a:t>ExchangeRate API · USD a Quetzales y Euros, actualizado al momento</a:t>
            </a:r>
            <a:endParaRPr lang="en-US" sz="1080" dirty="0"/>
          </a:p>
        </p:txBody>
      </p:sp>
      <p:sp>
        <p:nvSpPr>
          <p:cNvPr id="17" name="Shape 12"/>
          <p:cNvSpPr/>
          <p:nvPr/>
        </p:nvSpPr>
        <p:spPr>
          <a:xfrm>
            <a:off x="640080" y="3584448"/>
            <a:ext cx="7614110" cy="786384"/>
          </a:xfrm>
          <a:prstGeom prst="roundRect">
            <a:avLst>
              <a:gd name="adj" fmla="val 9302"/>
            </a:avLst>
          </a:prstGeom>
          <a:solidFill>
            <a:srgbClr val="FFFFFF"/>
          </a:solidFill>
          <a:ln/>
          <a:effectLst>
            <a:outerShdw sx="100000" sy="100000" kx="0" ky="0" algn="bl" rotWithShape="0" blurRad="114300" dist="38100" dir="5400000">
              <a:srgbClr val="0A1F3D">
                <a:alpha val="16000"/>
              </a:srgbClr>
            </a:outerShdw>
          </a:effectLst>
        </p:spPr>
      </p:sp>
      <p:sp>
        <p:nvSpPr>
          <p:cNvPr id="18" name="Shape 13"/>
          <p:cNvSpPr/>
          <p:nvPr/>
        </p:nvSpPr>
        <p:spPr>
          <a:xfrm>
            <a:off x="804672" y="3767328"/>
            <a:ext cx="420624" cy="420624"/>
          </a:xfrm>
          <a:prstGeom prst="ellipse">
            <a:avLst/>
          </a:prstGeom>
          <a:solidFill>
            <a:srgbClr val="EAF1FB"/>
          </a:solidFill>
          <a:ln/>
        </p:spPr>
      </p:sp>
      <p:pic>
        <p:nvPicPr>
          <p:cNvPr id="19" name="Image 3" descr="preencoded.png">    </p:cNvPr>
          <p:cNvPicPr>
            <a:picLocks noChangeAspect="1"/>
          </p:cNvPicPr>
          <p:nvPr/>
        </p:nvPicPr>
        <p:blipFill>
          <a:blip r:embed="rId4"/>
          <a:stretch>
            <a:fillRect/>
          </a:stretch>
        </p:blipFill>
        <p:spPr>
          <a:xfrm>
            <a:off x="896112" y="3858768"/>
            <a:ext cx="237744" cy="237744"/>
          </a:xfrm>
          <a:prstGeom prst="rect">
            <a:avLst/>
          </a:prstGeom>
        </p:spPr>
      </p:pic>
      <p:sp>
        <p:nvSpPr>
          <p:cNvPr id="20" name="Text 14"/>
          <p:cNvSpPr/>
          <p:nvPr/>
        </p:nvSpPr>
        <p:spPr>
          <a:xfrm>
            <a:off x="1389888" y="3694176"/>
            <a:ext cx="6699710" cy="310896"/>
          </a:xfrm>
          <a:prstGeom prst="rect">
            <a:avLst/>
          </a:prstGeom>
          <a:noFill/>
          <a:ln/>
        </p:spPr>
        <p:txBody>
          <a:bodyPr wrap="square" lIns="0" tIns="0" rIns="0" bIns="0" rtlCol="0" anchor="ctr"/>
          <a:lstStyle/>
          <a:p>
            <a:pPr indent="0" marL="0">
              <a:buNone/>
            </a:pPr>
            <a:r>
              <a:rPr lang="en-US" sz="1450" b="1" dirty="0">
                <a:solidFill>
                  <a:srgbClr val="0F2240"/>
                </a:solidFill>
                <a:latin typeface="Arial" pitchFamily="34" charset="0"/>
                <a:ea typeface="Arial" pitchFamily="34" charset="-122"/>
                <a:cs typeface="Arial" pitchFamily="34" charset="-120"/>
              </a:rPr>
              <a:t>Quote del día</a:t>
            </a:r>
            <a:endParaRPr lang="en-US" sz="1450" dirty="0"/>
          </a:p>
        </p:txBody>
      </p:sp>
      <p:sp>
        <p:nvSpPr>
          <p:cNvPr id="21" name="Text 15"/>
          <p:cNvSpPr/>
          <p:nvPr/>
        </p:nvSpPr>
        <p:spPr>
          <a:xfrm>
            <a:off x="1389888" y="3986784"/>
            <a:ext cx="6699710" cy="329184"/>
          </a:xfrm>
          <a:prstGeom prst="rect">
            <a:avLst/>
          </a:prstGeom>
          <a:noFill/>
          <a:ln/>
        </p:spPr>
        <p:txBody>
          <a:bodyPr wrap="square" lIns="0" tIns="0" rIns="0" bIns="0" rtlCol="0" anchor="ctr"/>
          <a:lstStyle/>
          <a:p>
            <a:pPr indent="0" marL="0">
              <a:buNone/>
            </a:pPr>
            <a:r>
              <a:rPr lang="en-US" sz="1080" dirty="0">
                <a:solidFill>
                  <a:srgbClr val="5B6B82"/>
                </a:solidFill>
                <a:latin typeface="Arial" pitchFamily="34" charset="0"/>
                <a:ea typeface="Arial" pitchFamily="34" charset="-122"/>
                <a:cs typeface="Arial" pitchFamily="34" charset="-120"/>
              </a:rPr>
              <a:t>ZenQuotes · una frase distinta cada vez (sin API key)</a:t>
            </a:r>
            <a:endParaRPr lang="en-US" sz="1080" dirty="0"/>
          </a:p>
        </p:txBody>
      </p:sp>
      <p:sp>
        <p:nvSpPr>
          <p:cNvPr id="22" name="Shape 16"/>
          <p:cNvSpPr/>
          <p:nvPr/>
        </p:nvSpPr>
        <p:spPr>
          <a:xfrm>
            <a:off x="640080" y="4462272"/>
            <a:ext cx="7614110" cy="786384"/>
          </a:xfrm>
          <a:prstGeom prst="roundRect">
            <a:avLst>
              <a:gd name="adj" fmla="val 9302"/>
            </a:avLst>
          </a:prstGeom>
          <a:solidFill>
            <a:srgbClr val="FFFFFF"/>
          </a:solidFill>
          <a:ln/>
          <a:effectLst>
            <a:outerShdw sx="100000" sy="100000" kx="0" ky="0" algn="bl" rotWithShape="0" blurRad="114300" dist="38100" dir="5400000">
              <a:srgbClr val="0A1F3D">
                <a:alpha val="16000"/>
              </a:srgbClr>
            </a:outerShdw>
          </a:effectLst>
        </p:spPr>
      </p:sp>
      <p:sp>
        <p:nvSpPr>
          <p:cNvPr id="23" name="Shape 17"/>
          <p:cNvSpPr/>
          <p:nvPr/>
        </p:nvSpPr>
        <p:spPr>
          <a:xfrm>
            <a:off x="804672" y="4645152"/>
            <a:ext cx="420624" cy="420624"/>
          </a:xfrm>
          <a:prstGeom prst="ellipse">
            <a:avLst/>
          </a:prstGeom>
          <a:solidFill>
            <a:srgbClr val="EAF1FB"/>
          </a:solidFill>
          <a:ln/>
        </p:spPr>
      </p:sp>
      <p:pic>
        <p:nvPicPr>
          <p:cNvPr id="24" name="Image 4" descr="preencoded.png">    </p:cNvPr>
          <p:cNvPicPr>
            <a:picLocks noChangeAspect="1"/>
          </p:cNvPicPr>
          <p:nvPr/>
        </p:nvPicPr>
        <p:blipFill>
          <a:blip r:embed="rId5"/>
          <a:stretch>
            <a:fillRect/>
          </a:stretch>
        </p:blipFill>
        <p:spPr>
          <a:xfrm>
            <a:off x="896112" y="4736592"/>
            <a:ext cx="237744" cy="237744"/>
          </a:xfrm>
          <a:prstGeom prst="rect">
            <a:avLst/>
          </a:prstGeom>
        </p:spPr>
      </p:pic>
      <p:sp>
        <p:nvSpPr>
          <p:cNvPr id="25" name="Text 18"/>
          <p:cNvSpPr/>
          <p:nvPr/>
        </p:nvSpPr>
        <p:spPr>
          <a:xfrm>
            <a:off x="1389888" y="4572000"/>
            <a:ext cx="6699710" cy="310896"/>
          </a:xfrm>
          <a:prstGeom prst="rect">
            <a:avLst/>
          </a:prstGeom>
          <a:noFill/>
          <a:ln/>
        </p:spPr>
        <p:txBody>
          <a:bodyPr wrap="square" lIns="0" tIns="0" rIns="0" bIns="0" rtlCol="0" anchor="ctr"/>
          <a:lstStyle/>
          <a:p>
            <a:pPr indent="0" marL="0">
              <a:buNone/>
            </a:pPr>
            <a:r>
              <a:rPr lang="en-US" sz="1450" b="1" dirty="0">
                <a:solidFill>
                  <a:srgbClr val="0F2240"/>
                </a:solidFill>
                <a:latin typeface="Arial" pitchFamily="34" charset="0"/>
                <a:ea typeface="Arial" pitchFamily="34" charset="-122"/>
                <a:cs typeface="Arial" pitchFamily="34" charset="-120"/>
              </a:rPr>
              <a:t>Noticias deportivas</a:t>
            </a:r>
            <a:endParaRPr lang="en-US" sz="1450" dirty="0"/>
          </a:p>
        </p:txBody>
      </p:sp>
      <p:sp>
        <p:nvSpPr>
          <p:cNvPr id="26" name="Text 19"/>
          <p:cNvSpPr/>
          <p:nvPr/>
        </p:nvSpPr>
        <p:spPr>
          <a:xfrm>
            <a:off x="1389888" y="4864608"/>
            <a:ext cx="6699710" cy="329184"/>
          </a:xfrm>
          <a:prstGeom prst="rect">
            <a:avLst/>
          </a:prstGeom>
          <a:noFill/>
          <a:ln/>
        </p:spPr>
        <p:txBody>
          <a:bodyPr wrap="square" lIns="0" tIns="0" rIns="0" bIns="0" rtlCol="0" anchor="ctr"/>
          <a:lstStyle/>
          <a:p>
            <a:pPr indent="0" marL="0">
              <a:buNone/>
            </a:pPr>
            <a:r>
              <a:rPr lang="en-US" sz="1080" dirty="0">
                <a:solidFill>
                  <a:srgbClr val="5B6B82"/>
                </a:solidFill>
                <a:latin typeface="Arial" pitchFamily="34" charset="0"/>
                <a:ea typeface="Arial" pitchFamily="34" charset="-122"/>
                <a:cs typeface="Arial" pitchFamily="34" charset="-120"/>
              </a:rPr>
              <a:t>ESPN API · Soccer, NBA, F1, NFL y Tennis</a:t>
            </a:r>
            <a:endParaRPr lang="en-US" sz="1080" dirty="0"/>
          </a:p>
        </p:txBody>
      </p:sp>
      <p:sp>
        <p:nvSpPr>
          <p:cNvPr id="27" name="Shape 20"/>
          <p:cNvSpPr/>
          <p:nvPr/>
        </p:nvSpPr>
        <p:spPr>
          <a:xfrm>
            <a:off x="640080" y="5340096"/>
            <a:ext cx="7614110" cy="786384"/>
          </a:xfrm>
          <a:prstGeom prst="roundRect">
            <a:avLst>
              <a:gd name="adj" fmla="val 9302"/>
            </a:avLst>
          </a:prstGeom>
          <a:solidFill>
            <a:srgbClr val="FFFFFF"/>
          </a:solidFill>
          <a:ln/>
          <a:effectLst>
            <a:outerShdw sx="100000" sy="100000" kx="0" ky="0" algn="bl" rotWithShape="0" blurRad="114300" dist="38100" dir="5400000">
              <a:srgbClr val="0A1F3D">
                <a:alpha val="16000"/>
              </a:srgbClr>
            </a:outerShdw>
          </a:effectLst>
        </p:spPr>
      </p:sp>
      <p:sp>
        <p:nvSpPr>
          <p:cNvPr id="28" name="Shape 21"/>
          <p:cNvSpPr/>
          <p:nvPr/>
        </p:nvSpPr>
        <p:spPr>
          <a:xfrm>
            <a:off x="804672" y="5522976"/>
            <a:ext cx="420624" cy="420624"/>
          </a:xfrm>
          <a:prstGeom prst="ellipse">
            <a:avLst/>
          </a:prstGeom>
          <a:solidFill>
            <a:srgbClr val="EAF1FB"/>
          </a:solidFill>
          <a:ln/>
        </p:spPr>
      </p:sp>
      <p:pic>
        <p:nvPicPr>
          <p:cNvPr id="29" name="Image 5" descr="preencoded.png">    </p:cNvPr>
          <p:cNvPicPr>
            <a:picLocks noChangeAspect="1"/>
          </p:cNvPicPr>
          <p:nvPr/>
        </p:nvPicPr>
        <p:blipFill>
          <a:blip r:embed="rId6"/>
          <a:stretch>
            <a:fillRect/>
          </a:stretch>
        </p:blipFill>
        <p:spPr>
          <a:xfrm>
            <a:off x="896112" y="5614416"/>
            <a:ext cx="237744" cy="237744"/>
          </a:xfrm>
          <a:prstGeom prst="rect">
            <a:avLst/>
          </a:prstGeom>
        </p:spPr>
      </p:pic>
      <p:sp>
        <p:nvSpPr>
          <p:cNvPr id="30" name="Text 22"/>
          <p:cNvSpPr/>
          <p:nvPr/>
        </p:nvSpPr>
        <p:spPr>
          <a:xfrm>
            <a:off x="1389888" y="5449824"/>
            <a:ext cx="6699710" cy="310896"/>
          </a:xfrm>
          <a:prstGeom prst="rect">
            <a:avLst/>
          </a:prstGeom>
          <a:noFill/>
          <a:ln/>
        </p:spPr>
        <p:txBody>
          <a:bodyPr wrap="square" lIns="0" tIns="0" rIns="0" bIns="0" rtlCol="0" anchor="ctr"/>
          <a:lstStyle/>
          <a:p>
            <a:pPr indent="0" marL="0">
              <a:buNone/>
            </a:pPr>
            <a:r>
              <a:rPr lang="en-US" sz="1450" b="1" dirty="0">
                <a:solidFill>
                  <a:srgbClr val="0F2240"/>
                </a:solidFill>
                <a:latin typeface="Arial" pitchFamily="34" charset="0"/>
                <a:ea typeface="Arial" pitchFamily="34" charset="-122"/>
                <a:cs typeface="Arial" pitchFamily="34" charset="-120"/>
              </a:rPr>
              <a:t>Guardar favoritos</a:t>
            </a:r>
            <a:endParaRPr lang="en-US" sz="1450" dirty="0"/>
          </a:p>
        </p:txBody>
      </p:sp>
      <p:sp>
        <p:nvSpPr>
          <p:cNvPr id="31" name="Text 23"/>
          <p:cNvSpPr/>
          <p:nvPr/>
        </p:nvSpPr>
        <p:spPr>
          <a:xfrm>
            <a:off x="1389888" y="5742432"/>
            <a:ext cx="6699710" cy="329184"/>
          </a:xfrm>
          <a:prstGeom prst="rect">
            <a:avLst/>
          </a:prstGeom>
          <a:noFill/>
          <a:ln/>
        </p:spPr>
        <p:txBody>
          <a:bodyPr wrap="square" lIns="0" tIns="0" rIns="0" bIns="0" rtlCol="0" anchor="ctr"/>
          <a:lstStyle/>
          <a:p>
            <a:pPr indent="0" marL="0">
              <a:buNone/>
            </a:pPr>
            <a:r>
              <a:rPr lang="en-US" sz="1080" dirty="0">
                <a:solidFill>
                  <a:srgbClr val="5B6B82"/>
                </a:solidFill>
                <a:latin typeface="Arial" pitchFamily="34" charset="0"/>
                <a:ea typeface="Arial" pitchFamily="34" charset="-122"/>
                <a:cs typeface="Arial" pitchFamily="34" charset="-120"/>
              </a:rPr>
              <a:t>Envío del titular elegido a un canal de Discord</a:t>
            </a:r>
            <a:endParaRPr lang="en-US" sz="10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lIns="0" tIns="0" rIns="0" bIns="0" rtlCol="0" anchor="ctr"/>
          <a:lstStyle/>
          <a:p>
            <a:pPr indent="0" marL="0">
              <a:buNone/>
            </a:pPr>
            <a:r>
              <a:rPr lang="en-US" sz="1300" b="1" spc="300" kern="0" dirty="0">
                <a:solidFill>
                  <a:srgbClr val="1D6FE0"/>
                </a:solidFill>
                <a:latin typeface="Arial" pitchFamily="34" charset="0"/>
                <a:ea typeface="Arial" pitchFamily="34" charset="-122"/>
                <a:cs typeface="Arial" pitchFamily="34" charset="-120"/>
              </a:rPr>
              <a:t>EL CORAZÓN DEL PROYECTO</a:t>
            </a:r>
            <a:endParaRPr lang="en-US" sz="1300" dirty="0"/>
          </a:p>
        </p:txBody>
      </p:sp>
      <p:sp>
        <p:nvSpPr>
          <p:cNvPr id="3" name="Text 1"/>
          <p:cNvSpPr/>
          <p:nvPr/>
        </p:nvSpPr>
        <p:spPr>
          <a:xfrm>
            <a:off x="640080" y="713232"/>
            <a:ext cx="10881360" cy="777240"/>
          </a:xfrm>
          <a:prstGeom prst="rect">
            <a:avLst/>
          </a:prstGeom>
          <a:noFill/>
          <a:ln/>
        </p:spPr>
        <p:txBody>
          <a:bodyPr wrap="square" lIns="0" tIns="0" rIns="0" bIns="0" rtlCol="0" anchor="ctr"/>
          <a:lstStyle/>
          <a:p>
            <a:pPr indent="0" marL="0">
              <a:buNone/>
            </a:pPr>
            <a:r>
              <a:rPr lang="en-US" sz="3300" b="1" dirty="0">
                <a:solidFill>
                  <a:srgbClr val="0F2240"/>
                </a:solidFill>
                <a:latin typeface="Cambria" pitchFamily="34" charset="0"/>
                <a:ea typeface="Cambria" pitchFamily="34" charset="-122"/>
                <a:cs typeface="Cambria" pitchFamily="34" charset="-120"/>
              </a:rPr>
              <a:t>3 funciones de requests, 3 propósitos</a:t>
            </a:r>
            <a:endParaRPr lang="en-US" sz="3300" dirty="0"/>
          </a:p>
        </p:txBody>
      </p:sp>
      <p:sp>
        <p:nvSpPr>
          <p:cNvPr id="4" name="Shape 2"/>
          <p:cNvSpPr/>
          <p:nvPr/>
        </p:nvSpPr>
        <p:spPr>
          <a:xfrm>
            <a:off x="640080" y="1783080"/>
            <a:ext cx="3520440" cy="2788920"/>
          </a:xfrm>
          <a:prstGeom prst="roundRect">
            <a:avLst>
              <a:gd name="adj" fmla="val 3279"/>
            </a:avLst>
          </a:prstGeom>
          <a:solidFill>
            <a:srgbClr val="FFFFFF"/>
          </a:solidFill>
          <a:ln/>
          <a:effectLst>
            <a:outerShdw sx="100000" sy="100000" kx="0" ky="0" algn="bl" rotWithShape="0" blurRad="114300" dist="38100" dir="5400000">
              <a:srgbClr val="0A1F3D">
                <a:alpha val="16000"/>
              </a:srgbClr>
            </a:outerShdw>
          </a:effectLst>
        </p:spPr>
      </p:sp>
      <p:sp>
        <p:nvSpPr>
          <p:cNvPr id="5" name="Shape 3"/>
          <p:cNvSpPr/>
          <p:nvPr/>
        </p:nvSpPr>
        <p:spPr>
          <a:xfrm>
            <a:off x="960120" y="2075688"/>
            <a:ext cx="658368" cy="658368"/>
          </a:xfrm>
          <a:prstGeom prst="ellipse">
            <a:avLst/>
          </a:prstGeom>
          <a:solidFill>
            <a:srgbClr val="0A1F3D"/>
          </a:solidFill>
          <a:ln/>
        </p:spPr>
      </p:sp>
      <p:pic>
        <p:nvPicPr>
          <p:cNvPr id="6" name="Image 0" descr="preencoded.png">    </p:cNvPr>
          <p:cNvPicPr>
            <a:picLocks noChangeAspect="1"/>
          </p:cNvPicPr>
          <p:nvPr/>
        </p:nvPicPr>
        <p:blipFill>
          <a:blip r:embed="rId1"/>
          <a:stretch>
            <a:fillRect/>
          </a:stretch>
        </p:blipFill>
        <p:spPr>
          <a:xfrm>
            <a:off x="1124712" y="2240280"/>
            <a:ext cx="329184" cy="329184"/>
          </a:xfrm>
          <a:prstGeom prst="rect">
            <a:avLst/>
          </a:prstGeom>
        </p:spPr>
      </p:pic>
      <p:sp>
        <p:nvSpPr>
          <p:cNvPr id="7" name="Text 4"/>
          <p:cNvSpPr/>
          <p:nvPr/>
        </p:nvSpPr>
        <p:spPr>
          <a:xfrm>
            <a:off x="1783080" y="2075688"/>
            <a:ext cx="2240280" cy="365760"/>
          </a:xfrm>
          <a:prstGeom prst="rect">
            <a:avLst/>
          </a:prstGeom>
          <a:noFill/>
          <a:ln/>
        </p:spPr>
        <p:txBody>
          <a:bodyPr wrap="square" lIns="0" tIns="0" rIns="0" bIns="0" rtlCol="0" anchor="ctr"/>
          <a:lstStyle/>
          <a:p>
            <a:pPr indent="0" marL="0">
              <a:buNone/>
            </a:pPr>
            <a:r>
              <a:rPr lang="en-US" sz="1600" b="1" dirty="0">
                <a:solidFill>
                  <a:srgbClr val="1D6FE0"/>
                </a:solidFill>
                <a:latin typeface="Courier New" pitchFamily="34" charset="0"/>
                <a:ea typeface="Courier New" pitchFamily="34" charset="-122"/>
                <a:cs typeface="Courier New" pitchFamily="34" charset="-120"/>
              </a:rPr>
              <a:t>requests.head</a:t>
            </a:r>
            <a:endParaRPr lang="en-US" sz="1600" dirty="0"/>
          </a:p>
        </p:txBody>
      </p:sp>
      <p:sp>
        <p:nvSpPr>
          <p:cNvPr id="8" name="Text 5"/>
          <p:cNvSpPr/>
          <p:nvPr/>
        </p:nvSpPr>
        <p:spPr>
          <a:xfrm>
            <a:off x="1783080" y="2441448"/>
            <a:ext cx="2240280" cy="320040"/>
          </a:xfrm>
          <a:prstGeom prst="rect">
            <a:avLst/>
          </a:prstGeom>
          <a:noFill/>
          <a:ln/>
        </p:spPr>
        <p:txBody>
          <a:bodyPr wrap="square" lIns="0" tIns="0" rIns="0" bIns="0" rtlCol="0" anchor="ctr"/>
          <a:lstStyle/>
          <a:p>
            <a:pPr indent="0" marL="0">
              <a:buNone/>
            </a:pPr>
            <a:r>
              <a:rPr lang="en-US" sz="1250" b="1" dirty="0">
                <a:solidFill>
                  <a:srgbClr val="0F2240"/>
                </a:solidFill>
                <a:latin typeface="Arial" pitchFamily="34" charset="0"/>
                <a:ea typeface="Arial" pitchFamily="34" charset="-122"/>
                <a:cs typeface="Arial" pitchFamily="34" charset="-120"/>
              </a:rPr>
              <a:t>Verificar conexión</a:t>
            </a:r>
            <a:endParaRPr lang="en-US" sz="1250" dirty="0"/>
          </a:p>
        </p:txBody>
      </p:sp>
      <p:sp>
        <p:nvSpPr>
          <p:cNvPr id="9" name="Text 6"/>
          <p:cNvSpPr/>
          <p:nvPr/>
        </p:nvSpPr>
        <p:spPr>
          <a:xfrm>
            <a:off x="960120" y="2953512"/>
            <a:ext cx="2880360" cy="1051560"/>
          </a:xfrm>
          <a:prstGeom prst="rect">
            <a:avLst/>
          </a:prstGeom>
          <a:noFill/>
          <a:ln/>
        </p:spPr>
        <p:txBody>
          <a:bodyPr wrap="square" lIns="0" tIns="0" rIns="0" bIns="0" rtlCol="0" anchor="ctr"/>
          <a:lstStyle/>
          <a:p>
            <a:pPr indent="0" marL="0">
              <a:buNone/>
            </a:pPr>
            <a:r>
              <a:rPr lang="en-US" sz="1130" dirty="0">
                <a:solidFill>
                  <a:srgbClr val="5B6B82"/>
                </a:solidFill>
                <a:latin typeface="Arial" pitchFamily="34" charset="0"/>
                <a:ea typeface="Arial" pitchFamily="34" charset="-122"/>
                <a:cs typeface="Arial" pitchFamily="34" charset="-120"/>
              </a:rPr>
              <a:t>Petición liviana: solo pregunta ¿hay alguien? sin descargar nada. La uso al arrancar para que el programa no explote sin internet.</a:t>
            </a:r>
            <a:endParaRPr lang="en-US" sz="1130" dirty="0"/>
          </a:p>
        </p:txBody>
      </p:sp>
      <p:sp>
        <p:nvSpPr>
          <p:cNvPr id="10" name="Shape 7"/>
          <p:cNvSpPr/>
          <p:nvPr/>
        </p:nvSpPr>
        <p:spPr>
          <a:xfrm>
            <a:off x="960120" y="4050792"/>
            <a:ext cx="2880360" cy="384048"/>
          </a:xfrm>
          <a:prstGeom prst="roundRect">
            <a:avLst>
              <a:gd name="adj" fmla="val 14286"/>
            </a:avLst>
          </a:prstGeom>
          <a:solidFill>
            <a:srgbClr val="0A1F3D"/>
          </a:solidFill>
          <a:ln/>
        </p:spPr>
      </p:sp>
      <p:sp>
        <p:nvSpPr>
          <p:cNvPr id="11" name="Text 8"/>
          <p:cNvSpPr/>
          <p:nvPr/>
        </p:nvSpPr>
        <p:spPr>
          <a:xfrm>
            <a:off x="1097280" y="4050792"/>
            <a:ext cx="2606040" cy="384048"/>
          </a:xfrm>
          <a:prstGeom prst="rect">
            <a:avLst/>
          </a:prstGeom>
          <a:noFill/>
          <a:ln/>
        </p:spPr>
        <p:txBody>
          <a:bodyPr wrap="square" lIns="0" tIns="0" rIns="0" bIns="0" rtlCol="0" anchor="ctr"/>
          <a:lstStyle/>
          <a:p>
            <a:pPr indent="0" marL="0">
              <a:buNone/>
            </a:pPr>
            <a:r>
              <a:rPr lang="en-US" sz="1020" dirty="0">
                <a:solidFill>
                  <a:srgbClr val="38BDF8"/>
                </a:solidFill>
                <a:latin typeface="Courier New" pitchFamily="34" charset="0"/>
                <a:ea typeface="Courier New" pitchFamily="34" charset="-122"/>
                <a:cs typeface="Courier New" pitchFamily="34" charset="-120"/>
              </a:rPr>
              <a:t>head("cloudflare.com", timeout=5)</a:t>
            </a:r>
            <a:endParaRPr lang="en-US" sz="1020" dirty="0"/>
          </a:p>
        </p:txBody>
      </p:sp>
      <p:sp>
        <p:nvSpPr>
          <p:cNvPr id="12" name="Shape 9"/>
          <p:cNvSpPr/>
          <p:nvPr/>
        </p:nvSpPr>
        <p:spPr>
          <a:xfrm>
            <a:off x="4471416" y="1783080"/>
            <a:ext cx="3520440" cy="2788920"/>
          </a:xfrm>
          <a:prstGeom prst="roundRect">
            <a:avLst>
              <a:gd name="adj" fmla="val 3279"/>
            </a:avLst>
          </a:prstGeom>
          <a:solidFill>
            <a:srgbClr val="FFFFFF"/>
          </a:solidFill>
          <a:ln/>
          <a:effectLst>
            <a:outerShdw sx="100000" sy="100000" kx="0" ky="0" algn="bl" rotWithShape="0" blurRad="114300" dist="38100" dir="5400000">
              <a:srgbClr val="0A1F3D">
                <a:alpha val="16000"/>
              </a:srgbClr>
            </a:outerShdw>
          </a:effectLst>
        </p:spPr>
      </p:sp>
      <p:sp>
        <p:nvSpPr>
          <p:cNvPr id="13" name="Shape 10"/>
          <p:cNvSpPr/>
          <p:nvPr/>
        </p:nvSpPr>
        <p:spPr>
          <a:xfrm>
            <a:off x="4791456" y="2075688"/>
            <a:ext cx="658368" cy="658368"/>
          </a:xfrm>
          <a:prstGeom prst="ellipse">
            <a:avLst/>
          </a:prstGeom>
          <a:solidFill>
            <a:srgbClr val="0A1F3D"/>
          </a:solidFill>
          <a:ln/>
        </p:spPr>
      </p:sp>
      <p:pic>
        <p:nvPicPr>
          <p:cNvPr id="14" name="Image 1" descr="preencoded.png">    </p:cNvPr>
          <p:cNvPicPr>
            <a:picLocks noChangeAspect="1"/>
          </p:cNvPicPr>
          <p:nvPr/>
        </p:nvPicPr>
        <p:blipFill>
          <a:blip r:embed="rId2"/>
          <a:stretch>
            <a:fillRect/>
          </a:stretch>
        </p:blipFill>
        <p:spPr>
          <a:xfrm>
            <a:off x="4956048" y="2240280"/>
            <a:ext cx="329184" cy="329184"/>
          </a:xfrm>
          <a:prstGeom prst="rect">
            <a:avLst/>
          </a:prstGeom>
        </p:spPr>
      </p:pic>
      <p:sp>
        <p:nvSpPr>
          <p:cNvPr id="15" name="Text 11"/>
          <p:cNvSpPr/>
          <p:nvPr/>
        </p:nvSpPr>
        <p:spPr>
          <a:xfrm>
            <a:off x="5614416" y="2075688"/>
            <a:ext cx="2240280" cy="365760"/>
          </a:xfrm>
          <a:prstGeom prst="rect">
            <a:avLst/>
          </a:prstGeom>
          <a:noFill/>
          <a:ln/>
        </p:spPr>
        <p:txBody>
          <a:bodyPr wrap="square" lIns="0" tIns="0" rIns="0" bIns="0" rtlCol="0" anchor="ctr"/>
          <a:lstStyle/>
          <a:p>
            <a:pPr indent="0" marL="0">
              <a:buNone/>
            </a:pPr>
            <a:r>
              <a:rPr lang="en-US" sz="1600" b="1" dirty="0">
                <a:solidFill>
                  <a:srgbClr val="1D6FE0"/>
                </a:solidFill>
                <a:latin typeface="Courier New" pitchFamily="34" charset="0"/>
                <a:ea typeface="Courier New" pitchFamily="34" charset="-122"/>
                <a:cs typeface="Courier New" pitchFamily="34" charset="-120"/>
              </a:rPr>
              <a:t>requests.get</a:t>
            </a:r>
            <a:endParaRPr lang="en-US" sz="1600" dirty="0"/>
          </a:p>
        </p:txBody>
      </p:sp>
      <p:sp>
        <p:nvSpPr>
          <p:cNvPr id="16" name="Text 12"/>
          <p:cNvSpPr/>
          <p:nvPr/>
        </p:nvSpPr>
        <p:spPr>
          <a:xfrm>
            <a:off x="5614416" y="2441448"/>
            <a:ext cx="2240280" cy="320040"/>
          </a:xfrm>
          <a:prstGeom prst="rect">
            <a:avLst/>
          </a:prstGeom>
          <a:noFill/>
          <a:ln/>
        </p:spPr>
        <p:txBody>
          <a:bodyPr wrap="square" lIns="0" tIns="0" rIns="0" bIns="0" rtlCol="0" anchor="ctr"/>
          <a:lstStyle/>
          <a:p>
            <a:pPr indent="0" marL="0">
              <a:buNone/>
            </a:pPr>
            <a:r>
              <a:rPr lang="en-US" sz="1250" b="1" dirty="0">
                <a:solidFill>
                  <a:srgbClr val="0F2240"/>
                </a:solidFill>
                <a:latin typeface="Arial" pitchFamily="34" charset="0"/>
                <a:ea typeface="Arial" pitchFamily="34" charset="-122"/>
                <a:cs typeface="Arial" pitchFamily="34" charset="-120"/>
              </a:rPr>
              <a:t>Traer datos</a:t>
            </a:r>
            <a:endParaRPr lang="en-US" sz="1250" dirty="0"/>
          </a:p>
        </p:txBody>
      </p:sp>
      <p:sp>
        <p:nvSpPr>
          <p:cNvPr id="17" name="Text 13"/>
          <p:cNvSpPr/>
          <p:nvPr/>
        </p:nvSpPr>
        <p:spPr>
          <a:xfrm>
            <a:off x="4791456" y="2953512"/>
            <a:ext cx="2880360" cy="1051560"/>
          </a:xfrm>
          <a:prstGeom prst="rect">
            <a:avLst/>
          </a:prstGeom>
          <a:noFill/>
          <a:ln/>
        </p:spPr>
        <p:txBody>
          <a:bodyPr wrap="square" lIns="0" tIns="0" rIns="0" bIns="0" rtlCol="0" anchor="ctr"/>
          <a:lstStyle/>
          <a:p>
            <a:pPr indent="0" marL="0">
              <a:buNone/>
            </a:pPr>
            <a:r>
              <a:rPr lang="en-US" sz="1130" dirty="0">
                <a:solidFill>
                  <a:srgbClr val="5B6B82"/>
                </a:solidFill>
                <a:latin typeface="Arial" pitchFamily="34" charset="0"/>
                <a:ea typeface="Arial" pitchFamily="34" charset="-122"/>
                <a:cs typeface="Arial" pitchFamily="34" charset="-120"/>
              </a:rPr>
              <a:t>Significa “dame información”. La llamo 4 veces: clima, cambio, quote y noticias. Siempre el mismo patrón: ir, traer, convertir.</a:t>
            </a:r>
            <a:endParaRPr lang="en-US" sz="1130" dirty="0"/>
          </a:p>
        </p:txBody>
      </p:sp>
      <p:sp>
        <p:nvSpPr>
          <p:cNvPr id="18" name="Shape 14"/>
          <p:cNvSpPr/>
          <p:nvPr/>
        </p:nvSpPr>
        <p:spPr>
          <a:xfrm>
            <a:off x="4791456" y="4050792"/>
            <a:ext cx="2880360" cy="384048"/>
          </a:xfrm>
          <a:prstGeom prst="roundRect">
            <a:avLst>
              <a:gd name="adj" fmla="val 14286"/>
            </a:avLst>
          </a:prstGeom>
          <a:solidFill>
            <a:srgbClr val="0A1F3D"/>
          </a:solidFill>
          <a:ln/>
        </p:spPr>
      </p:sp>
      <p:sp>
        <p:nvSpPr>
          <p:cNvPr id="19" name="Text 15"/>
          <p:cNvSpPr/>
          <p:nvPr/>
        </p:nvSpPr>
        <p:spPr>
          <a:xfrm>
            <a:off x="4928616" y="4050792"/>
            <a:ext cx="2606040" cy="384048"/>
          </a:xfrm>
          <a:prstGeom prst="rect">
            <a:avLst/>
          </a:prstGeom>
          <a:noFill/>
          <a:ln/>
        </p:spPr>
        <p:txBody>
          <a:bodyPr wrap="square" lIns="0" tIns="0" rIns="0" bIns="0" rtlCol="0" anchor="ctr"/>
          <a:lstStyle/>
          <a:p>
            <a:pPr indent="0" marL="0">
              <a:buNone/>
            </a:pPr>
            <a:r>
              <a:rPr lang="en-US" sz="1020" dirty="0">
                <a:solidFill>
                  <a:srgbClr val="38BDF8"/>
                </a:solidFill>
                <a:latin typeface="Courier New" pitchFamily="34" charset="0"/>
                <a:ea typeface="Courier New" pitchFamily="34" charset="-122"/>
                <a:cs typeface="Courier New" pitchFamily="34" charset="-120"/>
              </a:rPr>
              <a:t>get(url).json()</a:t>
            </a:r>
            <a:endParaRPr lang="en-US" sz="1020" dirty="0"/>
          </a:p>
        </p:txBody>
      </p:sp>
      <p:sp>
        <p:nvSpPr>
          <p:cNvPr id="20" name="Shape 16"/>
          <p:cNvSpPr/>
          <p:nvPr/>
        </p:nvSpPr>
        <p:spPr>
          <a:xfrm>
            <a:off x="8302752" y="1783080"/>
            <a:ext cx="3520440" cy="2788920"/>
          </a:xfrm>
          <a:prstGeom prst="roundRect">
            <a:avLst>
              <a:gd name="adj" fmla="val 3279"/>
            </a:avLst>
          </a:prstGeom>
          <a:solidFill>
            <a:srgbClr val="FFFFFF"/>
          </a:solidFill>
          <a:ln/>
          <a:effectLst>
            <a:outerShdw sx="100000" sy="100000" kx="0" ky="0" algn="bl" rotWithShape="0" blurRad="114300" dist="38100" dir="5400000">
              <a:srgbClr val="0A1F3D">
                <a:alpha val="16000"/>
              </a:srgbClr>
            </a:outerShdw>
          </a:effectLst>
        </p:spPr>
      </p:sp>
      <p:sp>
        <p:nvSpPr>
          <p:cNvPr id="21" name="Shape 17"/>
          <p:cNvSpPr/>
          <p:nvPr/>
        </p:nvSpPr>
        <p:spPr>
          <a:xfrm>
            <a:off x="8622792" y="2075688"/>
            <a:ext cx="658368" cy="658368"/>
          </a:xfrm>
          <a:prstGeom prst="ellipse">
            <a:avLst/>
          </a:prstGeom>
          <a:solidFill>
            <a:srgbClr val="0A1F3D"/>
          </a:solidFill>
          <a:ln/>
        </p:spPr>
      </p:sp>
      <p:pic>
        <p:nvPicPr>
          <p:cNvPr id="22" name="Image 2" descr="preencoded.png">    </p:cNvPr>
          <p:cNvPicPr>
            <a:picLocks noChangeAspect="1"/>
          </p:cNvPicPr>
          <p:nvPr/>
        </p:nvPicPr>
        <p:blipFill>
          <a:blip r:embed="rId3"/>
          <a:stretch>
            <a:fillRect/>
          </a:stretch>
        </p:blipFill>
        <p:spPr>
          <a:xfrm>
            <a:off x="8787384" y="2240280"/>
            <a:ext cx="329184" cy="329184"/>
          </a:xfrm>
          <a:prstGeom prst="rect">
            <a:avLst/>
          </a:prstGeom>
        </p:spPr>
      </p:pic>
      <p:sp>
        <p:nvSpPr>
          <p:cNvPr id="23" name="Text 18"/>
          <p:cNvSpPr/>
          <p:nvPr/>
        </p:nvSpPr>
        <p:spPr>
          <a:xfrm>
            <a:off x="9445752" y="2075688"/>
            <a:ext cx="2240280" cy="365760"/>
          </a:xfrm>
          <a:prstGeom prst="rect">
            <a:avLst/>
          </a:prstGeom>
          <a:noFill/>
          <a:ln/>
        </p:spPr>
        <p:txBody>
          <a:bodyPr wrap="square" lIns="0" tIns="0" rIns="0" bIns="0" rtlCol="0" anchor="ctr"/>
          <a:lstStyle/>
          <a:p>
            <a:pPr indent="0" marL="0">
              <a:buNone/>
            </a:pPr>
            <a:r>
              <a:rPr lang="en-US" sz="1600" b="1" dirty="0">
                <a:solidFill>
                  <a:srgbClr val="1D6FE0"/>
                </a:solidFill>
                <a:latin typeface="Courier New" pitchFamily="34" charset="0"/>
                <a:ea typeface="Courier New" pitchFamily="34" charset="-122"/>
                <a:cs typeface="Courier New" pitchFamily="34" charset="-120"/>
              </a:rPr>
              <a:t>requests.post</a:t>
            </a:r>
            <a:endParaRPr lang="en-US" sz="1600" dirty="0"/>
          </a:p>
        </p:txBody>
      </p:sp>
      <p:sp>
        <p:nvSpPr>
          <p:cNvPr id="24" name="Text 19"/>
          <p:cNvSpPr/>
          <p:nvPr/>
        </p:nvSpPr>
        <p:spPr>
          <a:xfrm>
            <a:off x="9445752" y="2441448"/>
            <a:ext cx="2240280" cy="320040"/>
          </a:xfrm>
          <a:prstGeom prst="rect">
            <a:avLst/>
          </a:prstGeom>
          <a:noFill/>
          <a:ln/>
        </p:spPr>
        <p:txBody>
          <a:bodyPr wrap="square" lIns="0" tIns="0" rIns="0" bIns="0" rtlCol="0" anchor="ctr"/>
          <a:lstStyle/>
          <a:p>
            <a:pPr indent="0" marL="0">
              <a:buNone/>
            </a:pPr>
            <a:r>
              <a:rPr lang="en-US" sz="1250" b="1" dirty="0">
                <a:solidFill>
                  <a:srgbClr val="0F2240"/>
                </a:solidFill>
                <a:latin typeface="Arial" pitchFamily="34" charset="0"/>
                <a:ea typeface="Arial" pitchFamily="34" charset="-122"/>
                <a:cs typeface="Arial" pitchFamily="34" charset="-120"/>
              </a:rPr>
              <a:t>Enviar datos</a:t>
            </a:r>
            <a:endParaRPr lang="en-US" sz="1250" dirty="0"/>
          </a:p>
        </p:txBody>
      </p:sp>
      <p:sp>
        <p:nvSpPr>
          <p:cNvPr id="25" name="Text 20"/>
          <p:cNvSpPr/>
          <p:nvPr/>
        </p:nvSpPr>
        <p:spPr>
          <a:xfrm>
            <a:off x="8622792" y="2953512"/>
            <a:ext cx="2880360" cy="1051560"/>
          </a:xfrm>
          <a:prstGeom prst="rect">
            <a:avLst/>
          </a:prstGeom>
          <a:noFill/>
          <a:ln/>
        </p:spPr>
        <p:txBody>
          <a:bodyPr wrap="square" lIns="0" tIns="0" rIns="0" bIns="0" rtlCol="0" anchor="ctr"/>
          <a:lstStyle/>
          <a:p>
            <a:pPr indent="0" marL="0">
              <a:buNone/>
            </a:pPr>
            <a:r>
              <a:rPr lang="en-US" sz="1130" dirty="0">
                <a:solidFill>
                  <a:srgbClr val="5B6B82"/>
                </a:solidFill>
                <a:latin typeface="Arial" pitchFamily="34" charset="0"/>
                <a:ea typeface="Arial" pitchFamily="34" charset="-122"/>
                <a:cs typeface="Arial" pitchFamily="34" charset="-120"/>
              </a:rPr>
              <a:t>Lo opuesto: “tomá esto”. Manda el favorito a Discord vía webhook. Discord responde 204 confirmando que llegó.</a:t>
            </a:r>
            <a:endParaRPr lang="en-US" sz="1130" dirty="0"/>
          </a:p>
        </p:txBody>
      </p:sp>
      <p:sp>
        <p:nvSpPr>
          <p:cNvPr id="26" name="Shape 21"/>
          <p:cNvSpPr/>
          <p:nvPr/>
        </p:nvSpPr>
        <p:spPr>
          <a:xfrm>
            <a:off x="8622792" y="4050792"/>
            <a:ext cx="2880360" cy="384048"/>
          </a:xfrm>
          <a:prstGeom prst="roundRect">
            <a:avLst>
              <a:gd name="adj" fmla="val 14286"/>
            </a:avLst>
          </a:prstGeom>
          <a:solidFill>
            <a:srgbClr val="0A1F3D"/>
          </a:solidFill>
          <a:ln/>
        </p:spPr>
      </p:sp>
      <p:sp>
        <p:nvSpPr>
          <p:cNvPr id="27" name="Text 22"/>
          <p:cNvSpPr/>
          <p:nvPr/>
        </p:nvSpPr>
        <p:spPr>
          <a:xfrm>
            <a:off x="8759952" y="4050792"/>
            <a:ext cx="2606040" cy="384048"/>
          </a:xfrm>
          <a:prstGeom prst="rect">
            <a:avLst/>
          </a:prstGeom>
          <a:noFill/>
          <a:ln/>
        </p:spPr>
        <p:txBody>
          <a:bodyPr wrap="square" lIns="0" tIns="0" rIns="0" bIns="0" rtlCol="0" anchor="ctr"/>
          <a:lstStyle/>
          <a:p>
            <a:pPr indent="0" marL="0">
              <a:buNone/>
            </a:pPr>
            <a:r>
              <a:rPr lang="en-US" sz="1020" dirty="0">
                <a:solidFill>
                  <a:srgbClr val="38BDF8"/>
                </a:solidFill>
                <a:latin typeface="Courier New" pitchFamily="34" charset="0"/>
                <a:ea typeface="Courier New" pitchFamily="34" charset="-122"/>
                <a:cs typeface="Courier New" pitchFamily="34" charset="-120"/>
              </a:rPr>
              <a:t>post(WEBHOOK, json=msg)</a:t>
            </a:r>
            <a:endParaRPr lang="en-US" sz="1020" dirty="0"/>
          </a:p>
        </p:txBody>
      </p:sp>
      <p:sp>
        <p:nvSpPr>
          <p:cNvPr id="28" name="Shape 23"/>
          <p:cNvSpPr/>
          <p:nvPr/>
        </p:nvSpPr>
        <p:spPr>
          <a:xfrm>
            <a:off x="640080" y="4846320"/>
            <a:ext cx="10881360" cy="1691640"/>
          </a:xfrm>
          <a:prstGeom prst="roundRect">
            <a:avLst>
              <a:gd name="adj" fmla="val 5405"/>
            </a:avLst>
          </a:prstGeom>
          <a:solidFill>
            <a:srgbClr val="EAF1FB"/>
          </a:solidFill>
          <a:ln/>
        </p:spPr>
      </p:sp>
      <p:pic>
        <p:nvPicPr>
          <p:cNvPr id="29" name="Image 3" descr="preencoded.png">    </p:cNvPr>
          <p:cNvPicPr>
            <a:picLocks noChangeAspect="1"/>
          </p:cNvPicPr>
          <p:nvPr/>
        </p:nvPicPr>
        <p:blipFill>
          <a:blip r:embed="rId4"/>
          <a:stretch>
            <a:fillRect/>
          </a:stretch>
        </p:blipFill>
        <p:spPr>
          <a:xfrm>
            <a:off x="914400" y="5138928"/>
            <a:ext cx="365760" cy="365760"/>
          </a:xfrm>
          <a:prstGeom prst="rect">
            <a:avLst/>
          </a:prstGeom>
        </p:spPr>
      </p:pic>
      <p:sp>
        <p:nvSpPr>
          <p:cNvPr id="30" name="Text 24"/>
          <p:cNvSpPr/>
          <p:nvPr/>
        </p:nvSpPr>
        <p:spPr>
          <a:xfrm>
            <a:off x="1371600" y="5102352"/>
            <a:ext cx="5486400" cy="411480"/>
          </a:xfrm>
          <a:prstGeom prst="rect">
            <a:avLst/>
          </a:prstGeom>
          <a:noFill/>
          <a:ln/>
        </p:spPr>
        <p:txBody>
          <a:bodyPr wrap="square" lIns="0" tIns="0" rIns="0" bIns="0" rtlCol="0" anchor="ctr"/>
          <a:lstStyle/>
          <a:p>
            <a:pPr indent="0" marL="0">
              <a:buNone/>
            </a:pPr>
            <a:r>
              <a:rPr lang="en-US" sz="1700" b="1" dirty="0">
                <a:solidFill>
                  <a:srgbClr val="0F2240"/>
                </a:solidFill>
                <a:latin typeface="Cambria" pitchFamily="34" charset="0"/>
                <a:ea typeface="Cambria" pitchFamily="34" charset="-122"/>
                <a:cs typeface="Cambria" pitchFamily="34" charset="-120"/>
              </a:rPr>
              <a:t>Prueba real: el webhook funcionando</a:t>
            </a:r>
            <a:endParaRPr lang="en-US" sz="1700" dirty="0"/>
          </a:p>
        </p:txBody>
      </p:sp>
      <p:sp>
        <p:nvSpPr>
          <p:cNvPr id="31" name="Text 25"/>
          <p:cNvSpPr/>
          <p:nvPr/>
        </p:nvSpPr>
        <p:spPr>
          <a:xfrm>
            <a:off x="914400" y="5559552"/>
            <a:ext cx="8595360" cy="868680"/>
          </a:xfrm>
          <a:prstGeom prst="rect">
            <a:avLst/>
          </a:prstGeom>
          <a:noFill/>
          <a:ln/>
        </p:spPr>
        <p:txBody>
          <a:bodyPr wrap="square" lIns="0" tIns="0" rIns="0" bIns="0" rtlCol="0" anchor="ctr"/>
          <a:lstStyle/>
          <a:p>
            <a:pPr indent="0" marL="0">
              <a:buNone/>
            </a:pPr>
            <a:r>
              <a:rPr lang="en-US" sz="1250" dirty="0">
                <a:solidFill>
                  <a:srgbClr val="5B6B82"/>
                </a:solidFill>
                <a:latin typeface="Arial" pitchFamily="34" charset="0"/>
                <a:ea typeface="Arial" pitchFamily="34" charset="-122"/>
                <a:cs typeface="Arial" pitchFamily="34" charset="-120"/>
              </a:rPr>
              <a:t>Cuando guardo un favorito, requests.post lo publica al instante en mi servidor de Discord con el titular, el deporte y el link. Esto demuestra que el envío de datos funciona de punta a punta.</a:t>
            </a:r>
            <a:endParaRPr lang="en-US" sz="1250" dirty="0"/>
          </a:p>
        </p:txBody>
      </p:sp>
      <p:pic>
        <p:nvPicPr>
          <p:cNvPr id="32" name="Image 4" descr="images/discord_crop.png">    </p:cNvPr>
          <p:cNvPicPr>
            <a:picLocks noChangeAspect="1"/>
          </p:cNvPicPr>
          <p:nvPr/>
        </p:nvPicPr>
        <p:blipFill>
          <a:blip r:embed="rId5"/>
          <a:stretch>
            <a:fillRect/>
          </a:stretch>
        </p:blipFill>
        <p:spPr>
          <a:xfrm>
            <a:off x="9961809" y="4882896"/>
            <a:ext cx="1513911" cy="16276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lIns="0" tIns="0" rIns="0" bIns="0" rtlCol="0" anchor="ctr"/>
          <a:lstStyle/>
          <a:p>
            <a:pPr indent="0" marL="0">
              <a:buNone/>
            </a:pPr>
            <a:r>
              <a:rPr lang="en-US" sz="1300" b="1" spc="300" kern="0" dirty="0">
                <a:solidFill>
                  <a:srgbClr val="1D6FE0"/>
                </a:solidFill>
                <a:latin typeface="Arial" pitchFamily="34" charset="0"/>
                <a:ea typeface="Arial" pitchFamily="34" charset="-122"/>
                <a:cs typeface="Arial" pitchFamily="34" charset="-120"/>
              </a:rPr>
              <a:t>ESTRUCTURA</a:t>
            </a:r>
            <a:endParaRPr lang="en-US" sz="1300" dirty="0"/>
          </a:p>
        </p:txBody>
      </p:sp>
      <p:sp>
        <p:nvSpPr>
          <p:cNvPr id="3" name="Text 1"/>
          <p:cNvSpPr/>
          <p:nvPr/>
        </p:nvSpPr>
        <p:spPr>
          <a:xfrm>
            <a:off x="640080" y="713232"/>
            <a:ext cx="10881360" cy="777240"/>
          </a:xfrm>
          <a:prstGeom prst="rect">
            <a:avLst/>
          </a:prstGeom>
          <a:noFill/>
          <a:ln/>
        </p:spPr>
        <p:txBody>
          <a:bodyPr wrap="square" lIns="0" tIns="0" rIns="0" bIns="0" rtlCol="0" anchor="ctr"/>
          <a:lstStyle/>
          <a:p>
            <a:pPr indent="0" marL="0">
              <a:buNone/>
            </a:pPr>
            <a:r>
              <a:rPr lang="en-US" sz="3300" b="1" dirty="0">
                <a:solidFill>
                  <a:srgbClr val="0F2240"/>
                </a:solidFill>
                <a:latin typeface="Cambria" pitchFamily="34" charset="0"/>
                <a:ea typeface="Cambria" pitchFamily="34" charset="-122"/>
                <a:cs typeface="Cambria" pitchFamily="34" charset="-120"/>
              </a:rPr>
              <a:t>Cómo está organizado el código</a:t>
            </a:r>
            <a:endParaRPr lang="en-US" sz="3300" dirty="0"/>
          </a:p>
        </p:txBody>
      </p:sp>
      <p:sp>
        <p:nvSpPr>
          <p:cNvPr id="4" name="Shape 2"/>
          <p:cNvSpPr/>
          <p:nvPr/>
        </p:nvSpPr>
        <p:spPr>
          <a:xfrm>
            <a:off x="640080" y="1783080"/>
            <a:ext cx="5212080" cy="4343400"/>
          </a:xfrm>
          <a:prstGeom prst="roundRect">
            <a:avLst>
              <a:gd name="adj" fmla="val 2526"/>
            </a:avLst>
          </a:prstGeom>
          <a:solidFill>
            <a:srgbClr val="0A1F3D"/>
          </a:solidFill>
          <a:ln/>
          <a:effectLst>
            <a:outerShdw sx="100000" sy="100000" kx="0" ky="0" algn="bl" rotWithShape="0" blurRad="114300" dist="38100" dir="5400000">
              <a:srgbClr val="0A1F3D">
                <a:alpha val="16000"/>
              </a:srgbClr>
            </a:outerShdw>
          </a:effectLst>
        </p:spPr>
      </p:sp>
      <p:sp>
        <p:nvSpPr>
          <p:cNvPr id="5" name="Text 3"/>
          <p:cNvSpPr/>
          <p:nvPr/>
        </p:nvSpPr>
        <p:spPr>
          <a:xfrm>
            <a:off x="1051560" y="2011680"/>
            <a:ext cx="4389120" cy="411480"/>
          </a:xfrm>
          <a:prstGeom prst="rect">
            <a:avLst/>
          </a:prstGeom>
          <a:noFill/>
          <a:ln/>
        </p:spPr>
        <p:txBody>
          <a:bodyPr wrap="square" lIns="0" tIns="0" rIns="0" bIns="0" rtlCol="0" anchor="ctr"/>
          <a:lstStyle/>
          <a:p>
            <a:pPr indent="0" marL="0">
              <a:buNone/>
            </a:pPr>
            <a:r>
              <a:rPr lang="en-US" sz="1800" b="1" dirty="0">
                <a:solidFill>
                  <a:srgbClr val="38BDF8"/>
                </a:solidFill>
                <a:latin typeface="Cambria" pitchFamily="34" charset="0"/>
                <a:ea typeface="Cambria" pitchFamily="34" charset="-122"/>
                <a:cs typeface="Cambria" pitchFamily="34" charset="-120"/>
              </a:rPr>
              <a:t>Flujo del programa</a:t>
            </a:r>
            <a:endParaRPr lang="en-US" sz="1800" dirty="0"/>
          </a:p>
        </p:txBody>
      </p:sp>
      <p:sp>
        <p:nvSpPr>
          <p:cNvPr id="6" name="Shape 4"/>
          <p:cNvSpPr/>
          <p:nvPr/>
        </p:nvSpPr>
        <p:spPr>
          <a:xfrm>
            <a:off x="1051560" y="2560320"/>
            <a:ext cx="310896" cy="310896"/>
          </a:xfrm>
          <a:prstGeom prst="ellipse">
            <a:avLst/>
          </a:prstGeom>
          <a:solidFill>
            <a:srgbClr val="1D6FE0"/>
          </a:solidFill>
          <a:ln/>
        </p:spPr>
      </p:sp>
      <p:sp>
        <p:nvSpPr>
          <p:cNvPr id="7" name="Text 5"/>
          <p:cNvSpPr/>
          <p:nvPr/>
        </p:nvSpPr>
        <p:spPr>
          <a:xfrm>
            <a:off x="1051560" y="256032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1508760" y="2505456"/>
            <a:ext cx="2743200" cy="38404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Arrancar</a:t>
            </a:r>
            <a:endParaRPr lang="en-US" sz="1400" dirty="0"/>
          </a:p>
        </p:txBody>
      </p:sp>
      <p:sp>
        <p:nvSpPr>
          <p:cNvPr id="9" name="Text 7"/>
          <p:cNvSpPr/>
          <p:nvPr/>
        </p:nvSpPr>
        <p:spPr>
          <a:xfrm>
            <a:off x="3886200" y="2505456"/>
            <a:ext cx="1554480" cy="384048"/>
          </a:xfrm>
          <a:prstGeom prst="rect">
            <a:avLst/>
          </a:prstGeom>
          <a:noFill/>
          <a:ln/>
        </p:spPr>
        <p:txBody>
          <a:bodyPr wrap="square" lIns="0" tIns="0" rIns="0" bIns="0" rtlCol="0" anchor="ctr"/>
          <a:lstStyle/>
          <a:p>
            <a:pPr algn="r" indent="0" marL="0">
              <a:buNone/>
            </a:pPr>
            <a:r>
              <a:rPr lang="en-US" sz="1100" dirty="0">
                <a:solidFill>
                  <a:srgbClr val="38BDF8"/>
                </a:solidFill>
                <a:latin typeface="Courier New" pitchFamily="34" charset="0"/>
                <a:ea typeface="Courier New" pitchFamily="34" charset="-122"/>
                <a:cs typeface="Courier New" pitchFamily="34" charset="-120"/>
              </a:rPr>
              <a:t>console.clear()</a:t>
            </a:r>
            <a:endParaRPr lang="en-US" sz="1100" dirty="0"/>
          </a:p>
        </p:txBody>
      </p:sp>
      <p:sp>
        <p:nvSpPr>
          <p:cNvPr id="10" name="Shape 8"/>
          <p:cNvSpPr/>
          <p:nvPr/>
        </p:nvSpPr>
        <p:spPr>
          <a:xfrm>
            <a:off x="1207008" y="2889504"/>
            <a:ext cx="0" cy="219456"/>
          </a:xfrm>
          <a:prstGeom prst="line">
            <a:avLst/>
          </a:prstGeom>
          <a:noFill/>
          <a:ln w="19050">
            <a:solidFill>
              <a:srgbClr val="44608C"/>
            </a:solidFill>
            <a:prstDash val="solid"/>
          </a:ln>
        </p:spPr>
      </p:sp>
      <p:sp>
        <p:nvSpPr>
          <p:cNvPr id="11" name="Shape 9"/>
          <p:cNvSpPr/>
          <p:nvPr/>
        </p:nvSpPr>
        <p:spPr>
          <a:xfrm>
            <a:off x="1051560" y="3127248"/>
            <a:ext cx="310896" cy="310896"/>
          </a:xfrm>
          <a:prstGeom prst="ellipse">
            <a:avLst/>
          </a:prstGeom>
          <a:solidFill>
            <a:srgbClr val="1D6FE0"/>
          </a:solidFill>
          <a:ln/>
        </p:spPr>
      </p:sp>
      <p:sp>
        <p:nvSpPr>
          <p:cNvPr id="12" name="Text 10"/>
          <p:cNvSpPr/>
          <p:nvPr/>
        </p:nvSpPr>
        <p:spPr>
          <a:xfrm>
            <a:off x="1051560" y="31272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1"/>
          <p:cNvSpPr/>
          <p:nvPr/>
        </p:nvSpPr>
        <p:spPr>
          <a:xfrm>
            <a:off x="1508760" y="3072384"/>
            <a:ext cx="2743200" cy="38404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¿Hay internet?</a:t>
            </a:r>
            <a:endParaRPr lang="en-US" sz="1400" dirty="0"/>
          </a:p>
        </p:txBody>
      </p:sp>
      <p:sp>
        <p:nvSpPr>
          <p:cNvPr id="14" name="Text 12"/>
          <p:cNvSpPr/>
          <p:nvPr/>
        </p:nvSpPr>
        <p:spPr>
          <a:xfrm>
            <a:off x="3886200" y="3072384"/>
            <a:ext cx="1554480" cy="384048"/>
          </a:xfrm>
          <a:prstGeom prst="rect">
            <a:avLst/>
          </a:prstGeom>
          <a:noFill/>
          <a:ln/>
        </p:spPr>
        <p:txBody>
          <a:bodyPr wrap="square" lIns="0" tIns="0" rIns="0" bIns="0" rtlCol="0" anchor="ctr"/>
          <a:lstStyle/>
          <a:p>
            <a:pPr algn="r" indent="0" marL="0">
              <a:buNone/>
            </a:pPr>
            <a:r>
              <a:rPr lang="en-US" sz="1100" dirty="0">
                <a:solidFill>
                  <a:srgbClr val="38BDF8"/>
                </a:solidFill>
                <a:latin typeface="Courier New" pitchFamily="34" charset="0"/>
                <a:ea typeface="Courier New" pitchFamily="34" charset="-122"/>
                <a:cs typeface="Courier New" pitchFamily="34" charset="-120"/>
              </a:rPr>
              <a:t>requests.head</a:t>
            </a:r>
            <a:endParaRPr lang="en-US" sz="1100" dirty="0"/>
          </a:p>
        </p:txBody>
      </p:sp>
      <p:sp>
        <p:nvSpPr>
          <p:cNvPr id="15" name="Shape 13"/>
          <p:cNvSpPr/>
          <p:nvPr/>
        </p:nvSpPr>
        <p:spPr>
          <a:xfrm>
            <a:off x="1207008" y="3456432"/>
            <a:ext cx="0" cy="219456"/>
          </a:xfrm>
          <a:prstGeom prst="line">
            <a:avLst/>
          </a:prstGeom>
          <a:noFill/>
          <a:ln w="19050">
            <a:solidFill>
              <a:srgbClr val="44608C"/>
            </a:solidFill>
            <a:prstDash val="solid"/>
          </a:ln>
        </p:spPr>
      </p:sp>
      <p:sp>
        <p:nvSpPr>
          <p:cNvPr id="16" name="Shape 14"/>
          <p:cNvSpPr/>
          <p:nvPr/>
        </p:nvSpPr>
        <p:spPr>
          <a:xfrm>
            <a:off x="1051560" y="3694176"/>
            <a:ext cx="310896" cy="310896"/>
          </a:xfrm>
          <a:prstGeom prst="ellipse">
            <a:avLst/>
          </a:prstGeom>
          <a:solidFill>
            <a:srgbClr val="1D6FE0"/>
          </a:solidFill>
          <a:ln/>
        </p:spPr>
      </p:sp>
      <p:sp>
        <p:nvSpPr>
          <p:cNvPr id="17" name="Text 15"/>
          <p:cNvSpPr/>
          <p:nvPr/>
        </p:nvSpPr>
        <p:spPr>
          <a:xfrm>
            <a:off x="1051560" y="369417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6"/>
          <p:cNvSpPr/>
          <p:nvPr/>
        </p:nvSpPr>
        <p:spPr>
          <a:xfrm>
            <a:off x="1508760" y="3639312"/>
            <a:ext cx="2743200" cy="38404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Cargar dashboard</a:t>
            </a:r>
            <a:endParaRPr lang="en-US" sz="1400" dirty="0"/>
          </a:p>
        </p:txBody>
      </p:sp>
      <p:sp>
        <p:nvSpPr>
          <p:cNvPr id="19" name="Text 17"/>
          <p:cNvSpPr/>
          <p:nvPr/>
        </p:nvSpPr>
        <p:spPr>
          <a:xfrm>
            <a:off x="3886200" y="3639312"/>
            <a:ext cx="1554480" cy="384048"/>
          </a:xfrm>
          <a:prstGeom prst="rect">
            <a:avLst/>
          </a:prstGeom>
          <a:noFill/>
          <a:ln/>
        </p:spPr>
        <p:txBody>
          <a:bodyPr wrap="square" lIns="0" tIns="0" rIns="0" bIns="0" rtlCol="0" anchor="ctr"/>
          <a:lstStyle/>
          <a:p>
            <a:pPr algn="r" indent="0" marL="0">
              <a:buNone/>
            </a:pPr>
            <a:r>
              <a:rPr lang="en-US" sz="1100" dirty="0">
                <a:solidFill>
                  <a:srgbClr val="38BDF8"/>
                </a:solidFill>
                <a:latin typeface="Courier New" pitchFamily="34" charset="0"/>
                <a:ea typeface="Courier New" pitchFamily="34" charset="-122"/>
                <a:cs typeface="Courier New" pitchFamily="34" charset="-120"/>
              </a:rPr>
              <a:t>requests.get × 3</a:t>
            </a:r>
            <a:endParaRPr lang="en-US" sz="1100" dirty="0"/>
          </a:p>
        </p:txBody>
      </p:sp>
      <p:sp>
        <p:nvSpPr>
          <p:cNvPr id="20" name="Shape 18"/>
          <p:cNvSpPr/>
          <p:nvPr/>
        </p:nvSpPr>
        <p:spPr>
          <a:xfrm>
            <a:off x="1207008" y="4023360"/>
            <a:ext cx="0" cy="219456"/>
          </a:xfrm>
          <a:prstGeom prst="line">
            <a:avLst/>
          </a:prstGeom>
          <a:noFill/>
          <a:ln w="19050">
            <a:solidFill>
              <a:srgbClr val="44608C"/>
            </a:solidFill>
            <a:prstDash val="solid"/>
          </a:ln>
        </p:spPr>
      </p:sp>
      <p:sp>
        <p:nvSpPr>
          <p:cNvPr id="21" name="Shape 19"/>
          <p:cNvSpPr/>
          <p:nvPr/>
        </p:nvSpPr>
        <p:spPr>
          <a:xfrm>
            <a:off x="1051560" y="4261104"/>
            <a:ext cx="310896" cy="310896"/>
          </a:xfrm>
          <a:prstGeom prst="ellipse">
            <a:avLst/>
          </a:prstGeom>
          <a:solidFill>
            <a:srgbClr val="1D6FE0"/>
          </a:solidFill>
          <a:ln/>
        </p:spPr>
      </p:sp>
      <p:sp>
        <p:nvSpPr>
          <p:cNvPr id="22" name="Text 20"/>
          <p:cNvSpPr/>
          <p:nvPr/>
        </p:nvSpPr>
        <p:spPr>
          <a:xfrm>
            <a:off x="1051560" y="426110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3" name="Text 21"/>
          <p:cNvSpPr/>
          <p:nvPr/>
        </p:nvSpPr>
        <p:spPr>
          <a:xfrm>
            <a:off x="1508760" y="4206240"/>
            <a:ext cx="2743200" cy="38404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Mostrar menú y elegir</a:t>
            </a:r>
            <a:endParaRPr lang="en-US" sz="1400" dirty="0"/>
          </a:p>
        </p:txBody>
      </p:sp>
      <p:sp>
        <p:nvSpPr>
          <p:cNvPr id="24" name="Text 22"/>
          <p:cNvSpPr/>
          <p:nvPr/>
        </p:nvSpPr>
        <p:spPr>
          <a:xfrm>
            <a:off x="3886200" y="4206240"/>
            <a:ext cx="1554480" cy="384048"/>
          </a:xfrm>
          <a:prstGeom prst="rect">
            <a:avLst/>
          </a:prstGeom>
          <a:noFill/>
          <a:ln/>
        </p:spPr>
        <p:txBody>
          <a:bodyPr wrap="square" lIns="0" tIns="0" rIns="0" bIns="0" rtlCol="0" anchor="ctr"/>
          <a:lstStyle/>
          <a:p>
            <a:pPr algn="r" indent="0" marL="0">
              <a:buNone/>
            </a:pPr>
            <a:r>
              <a:rPr lang="en-US" sz="1100" dirty="0">
                <a:solidFill>
                  <a:srgbClr val="38BDF8"/>
                </a:solidFill>
                <a:latin typeface="Courier New" pitchFamily="34" charset="0"/>
                <a:ea typeface="Courier New" pitchFamily="34" charset="-122"/>
                <a:cs typeface="Courier New" pitchFamily="34" charset="-120"/>
              </a:rPr>
              <a:t>input()</a:t>
            </a:r>
            <a:endParaRPr lang="en-US" sz="1100" dirty="0"/>
          </a:p>
        </p:txBody>
      </p:sp>
      <p:sp>
        <p:nvSpPr>
          <p:cNvPr id="25" name="Shape 23"/>
          <p:cNvSpPr/>
          <p:nvPr/>
        </p:nvSpPr>
        <p:spPr>
          <a:xfrm>
            <a:off x="1207008" y="4590288"/>
            <a:ext cx="0" cy="219456"/>
          </a:xfrm>
          <a:prstGeom prst="line">
            <a:avLst/>
          </a:prstGeom>
          <a:noFill/>
          <a:ln w="19050">
            <a:solidFill>
              <a:srgbClr val="44608C"/>
            </a:solidFill>
            <a:prstDash val="solid"/>
          </a:ln>
        </p:spPr>
      </p:sp>
      <p:sp>
        <p:nvSpPr>
          <p:cNvPr id="26" name="Shape 24"/>
          <p:cNvSpPr/>
          <p:nvPr/>
        </p:nvSpPr>
        <p:spPr>
          <a:xfrm>
            <a:off x="1051560" y="4828032"/>
            <a:ext cx="310896" cy="310896"/>
          </a:xfrm>
          <a:prstGeom prst="ellipse">
            <a:avLst/>
          </a:prstGeom>
          <a:solidFill>
            <a:srgbClr val="1D6FE0"/>
          </a:solidFill>
          <a:ln/>
        </p:spPr>
      </p:sp>
      <p:sp>
        <p:nvSpPr>
          <p:cNvPr id="27" name="Text 25"/>
          <p:cNvSpPr/>
          <p:nvPr/>
        </p:nvSpPr>
        <p:spPr>
          <a:xfrm>
            <a:off x="1051560" y="482803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8" name="Text 26"/>
          <p:cNvSpPr/>
          <p:nvPr/>
        </p:nvSpPr>
        <p:spPr>
          <a:xfrm>
            <a:off x="1508760" y="4773168"/>
            <a:ext cx="2743200" cy="38404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Traer noticias</a:t>
            </a:r>
            <a:endParaRPr lang="en-US" sz="1400" dirty="0"/>
          </a:p>
        </p:txBody>
      </p:sp>
      <p:sp>
        <p:nvSpPr>
          <p:cNvPr id="29" name="Text 27"/>
          <p:cNvSpPr/>
          <p:nvPr/>
        </p:nvSpPr>
        <p:spPr>
          <a:xfrm>
            <a:off x="3886200" y="4773168"/>
            <a:ext cx="1554480" cy="384048"/>
          </a:xfrm>
          <a:prstGeom prst="rect">
            <a:avLst/>
          </a:prstGeom>
          <a:noFill/>
          <a:ln/>
        </p:spPr>
        <p:txBody>
          <a:bodyPr wrap="square" lIns="0" tIns="0" rIns="0" bIns="0" rtlCol="0" anchor="ctr"/>
          <a:lstStyle/>
          <a:p>
            <a:pPr algn="r" indent="0" marL="0">
              <a:buNone/>
            </a:pPr>
            <a:r>
              <a:rPr lang="en-US" sz="1100" dirty="0">
                <a:solidFill>
                  <a:srgbClr val="38BDF8"/>
                </a:solidFill>
                <a:latin typeface="Courier New" pitchFamily="34" charset="0"/>
                <a:ea typeface="Courier New" pitchFamily="34" charset="-122"/>
                <a:cs typeface="Courier New" pitchFamily="34" charset="-120"/>
              </a:rPr>
              <a:t>requests.get</a:t>
            </a:r>
            <a:endParaRPr lang="en-US" sz="1100" dirty="0"/>
          </a:p>
        </p:txBody>
      </p:sp>
      <p:sp>
        <p:nvSpPr>
          <p:cNvPr id="30" name="Shape 28"/>
          <p:cNvSpPr/>
          <p:nvPr/>
        </p:nvSpPr>
        <p:spPr>
          <a:xfrm>
            <a:off x="1207008" y="5157216"/>
            <a:ext cx="0" cy="219456"/>
          </a:xfrm>
          <a:prstGeom prst="line">
            <a:avLst/>
          </a:prstGeom>
          <a:noFill/>
          <a:ln w="19050">
            <a:solidFill>
              <a:srgbClr val="44608C"/>
            </a:solidFill>
            <a:prstDash val="solid"/>
          </a:ln>
        </p:spPr>
      </p:sp>
      <p:sp>
        <p:nvSpPr>
          <p:cNvPr id="31" name="Shape 29"/>
          <p:cNvSpPr/>
          <p:nvPr/>
        </p:nvSpPr>
        <p:spPr>
          <a:xfrm>
            <a:off x="1051560" y="5394960"/>
            <a:ext cx="310896" cy="310896"/>
          </a:xfrm>
          <a:prstGeom prst="ellipse">
            <a:avLst/>
          </a:prstGeom>
          <a:solidFill>
            <a:srgbClr val="1D6FE0"/>
          </a:solidFill>
          <a:ln/>
        </p:spPr>
      </p:sp>
      <p:sp>
        <p:nvSpPr>
          <p:cNvPr id="32" name="Text 30"/>
          <p:cNvSpPr/>
          <p:nvPr/>
        </p:nvSpPr>
        <p:spPr>
          <a:xfrm>
            <a:off x="1051560" y="539496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33" name="Text 31"/>
          <p:cNvSpPr/>
          <p:nvPr/>
        </p:nvSpPr>
        <p:spPr>
          <a:xfrm>
            <a:off x="1508760" y="5340096"/>
            <a:ext cx="2743200" cy="384048"/>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¿Guardar favorito?</a:t>
            </a:r>
            <a:endParaRPr lang="en-US" sz="1400" dirty="0"/>
          </a:p>
        </p:txBody>
      </p:sp>
      <p:sp>
        <p:nvSpPr>
          <p:cNvPr id="34" name="Text 32"/>
          <p:cNvSpPr/>
          <p:nvPr/>
        </p:nvSpPr>
        <p:spPr>
          <a:xfrm>
            <a:off x="3886200" y="5340096"/>
            <a:ext cx="1554480" cy="384048"/>
          </a:xfrm>
          <a:prstGeom prst="rect">
            <a:avLst/>
          </a:prstGeom>
          <a:noFill/>
          <a:ln/>
        </p:spPr>
        <p:txBody>
          <a:bodyPr wrap="square" lIns="0" tIns="0" rIns="0" bIns="0" rtlCol="0" anchor="ctr"/>
          <a:lstStyle/>
          <a:p>
            <a:pPr algn="r" indent="0" marL="0">
              <a:buNone/>
            </a:pPr>
            <a:r>
              <a:rPr lang="en-US" sz="1100" dirty="0">
                <a:solidFill>
                  <a:srgbClr val="38BDF8"/>
                </a:solidFill>
                <a:latin typeface="Courier New" pitchFamily="34" charset="0"/>
                <a:ea typeface="Courier New" pitchFamily="34" charset="-122"/>
                <a:cs typeface="Courier New" pitchFamily="34" charset="-120"/>
              </a:rPr>
              <a:t>requests.post</a:t>
            </a:r>
            <a:endParaRPr lang="en-US" sz="1100" dirty="0"/>
          </a:p>
        </p:txBody>
      </p:sp>
      <p:sp>
        <p:nvSpPr>
          <p:cNvPr id="35" name="Text 33"/>
          <p:cNvSpPr/>
          <p:nvPr/>
        </p:nvSpPr>
        <p:spPr>
          <a:xfrm>
            <a:off x="6309360" y="1783080"/>
            <a:ext cx="5212080" cy="365760"/>
          </a:xfrm>
          <a:prstGeom prst="rect">
            <a:avLst/>
          </a:prstGeom>
          <a:noFill/>
          <a:ln/>
        </p:spPr>
        <p:txBody>
          <a:bodyPr wrap="square" lIns="0" tIns="0" rIns="0" bIns="0" rtlCol="0" anchor="ctr"/>
          <a:lstStyle/>
          <a:p>
            <a:pPr indent="0" marL="0">
              <a:buNone/>
            </a:pPr>
            <a:r>
              <a:rPr lang="en-US" sz="1800" b="1" dirty="0">
                <a:solidFill>
                  <a:srgbClr val="0F2240"/>
                </a:solidFill>
                <a:latin typeface="Cambria" pitchFamily="34" charset="0"/>
                <a:ea typeface="Cambria" pitchFamily="34" charset="-122"/>
                <a:cs typeface="Cambria" pitchFamily="34" charset="-120"/>
              </a:rPr>
              <a:t>8 funciones, 2 trabajos</a:t>
            </a:r>
            <a:endParaRPr lang="en-US" sz="1800" dirty="0"/>
          </a:p>
        </p:txBody>
      </p:sp>
      <p:sp>
        <p:nvSpPr>
          <p:cNvPr id="36" name="Shape 34"/>
          <p:cNvSpPr/>
          <p:nvPr/>
        </p:nvSpPr>
        <p:spPr>
          <a:xfrm>
            <a:off x="6309360" y="2286000"/>
            <a:ext cx="5212080" cy="1828800"/>
          </a:xfrm>
          <a:prstGeom prst="roundRect">
            <a:avLst>
              <a:gd name="adj" fmla="val 5000"/>
            </a:avLst>
          </a:prstGeom>
          <a:solidFill>
            <a:srgbClr val="EAF1FB"/>
          </a:solidFill>
          <a:ln/>
        </p:spPr>
      </p:sp>
      <p:sp>
        <p:nvSpPr>
          <p:cNvPr id="37" name="Text 35"/>
          <p:cNvSpPr/>
          <p:nvPr/>
        </p:nvSpPr>
        <p:spPr>
          <a:xfrm>
            <a:off x="6629400" y="2423160"/>
            <a:ext cx="4572000" cy="274320"/>
          </a:xfrm>
          <a:prstGeom prst="rect">
            <a:avLst/>
          </a:prstGeom>
          <a:noFill/>
          <a:ln/>
        </p:spPr>
        <p:txBody>
          <a:bodyPr wrap="square" lIns="0" tIns="0" rIns="0" bIns="0" rtlCol="0" anchor="ctr"/>
          <a:lstStyle/>
          <a:p>
            <a:pPr indent="0" marL="0">
              <a:buNone/>
            </a:pPr>
            <a:r>
              <a:rPr lang="en-US" sz="1150" b="1" spc="200" kern="0" dirty="0">
                <a:solidFill>
                  <a:srgbClr val="1D6FE0"/>
                </a:solidFill>
                <a:latin typeface="Arial" pitchFamily="34" charset="0"/>
                <a:ea typeface="Arial" pitchFamily="34" charset="-122"/>
                <a:cs typeface="Arial" pitchFamily="34" charset="-120"/>
              </a:rPr>
              <a:t>HABLAN CON INTERNET</a:t>
            </a:r>
            <a:endParaRPr lang="en-US" sz="1150" dirty="0"/>
          </a:p>
        </p:txBody>
      </p:sp>
      <p:sp>
        <p:nvSpPr>
          <p:cNvPr id="38" name="Text 36"/>
          <p:cNvSpPr/>
          <p:nvPr/>
        </p:nvSpPr>
        <p:spPr>
          <a:xfrm>
            <a:off x="6629400" y="2743200"/>
            <a:ext cx="4572000" cy="1280160"/>
          </a:xfrm>
          <a:prstGeom prst="rect">
            <a:avLst/>
          </a:prstGeom>
          <a:noFill/>
          <a:ln/>
        </p:spPr>
        <p:txBody>
          <a:bodyPr wrap="square" lIns="0" tIns="0" rIns="0" bIns="0" rtlCol="0" anchor="ctr"/>
          <a:lstStyle/>
          <a:p>
            <a:pPr indent="0" marL="0">
              <a:lnSpc>
                <a:spcPts val="2200"/>
              </a:lnSpc>
              <a:buNone/>
            </a:pPr>
            <a:r>
              <a:rPr lang="en-US" sz="1400" b="1" dirty="0">
                <a:solidFill>
                  <a:srgbClr val="0F2240"/>
                </a:solidFill>
                <a:latin typeface="Courier New" pitchFamily="34" charset="0"/>
                <a:ea typeface="Courier New" pitchFamily="34" charset="-122"/>
                <a:cs typeface="Courier New" pitchFamily="34" charset="-120"/>
              </a:rPr>
              <a:t>verificar_conexion()</a:t>
            </a:r>
            <a:endParaRPr lang="en-US" sz="1400" dirty="0"/>
          </a:p>
          <a:p>
            <a:pPr indent="0" marL="0">
              <a:lnSpc>
                <a:spcPts val="2200"/>
              </a:lnSpc>
              <a:buNone/>
            </a:pPr>
            <a:r>
              <a:rPr lang="en-US" sz="1400" b="1" dirty="0">
                <a:solidFill>
                  <a:srgbClr val="0F2240"/>
                </a:solidFill>
                <a:latin typeface="Courier New" pitchFamily="34" charset="0"/>
                <a:ea typeface="Courier New" pitchFamily="34" charset="-122"/>
                <a:cs typeface="Courier New" pitchFamily="34" charset="-120"/>
              </a:rPr>
              <a:t>obtener_dashboard()</a:t>
            </a:r>
            <a:endParaRPr lang="en-US" sz="1400" dirty="0"/>
          </a:p>
          <a:p>
            <a:pPr indent="0" marL="0">
              <a:lnSpc>
                <a:spcPts val="2200"/>
              </a:lnSpc>
              <a:buNone/>
            </a:pPr>
            <a:r>
              <a:rPr lang="en-US" sz="1400" b="1" dirty="0">
                <a:solidFill>
                  <a:srgbClr val="0F2240"/>
                </a:solidFill>
                <a:latin typeface="Courier New" pitchFamily="34" charset="0"/>
                <a:ea typeface="Courier New" pitchFamily="34" charset="-122"/>
                <a:cs typeface="Courier New" pitchFamily="34" charset="-120"/>
              </a:rPr>
              <a:t>obtener_noticias()</a:t>
            </a:r>
            <a:endParaRPr lang="en-US" sz="1400" dirty="0"/>
          </a:p>
          <a:p>
            <a:pPr indent="0" marL="0">
              <a:lnSpc>
                <a:spcPts val="2200"/>
              </a:lnSpc>
              <a:buNone/>
            </a:pPr>
            <a:r>
              <a:rPr lang="en-US" sz="1400" b="1" dirty="0">
                <a:solidFill>
                  <a:srgbClr val="0F2240"/>
                </a:solidFill>
                <a:latin typeface="Courier New" pitchFamily="34" charset="0"/>
                <a:ea typeface="Courier New" pitchFamily="34" charset="-122"/>
                <a:cs typeface="Courier New" pitchFamily="34" charset="-120"/>
              </a:rPr>
              <a:t>guardar_favorito()</a:t>
            </a:r>
            <a:endParaRPr lang="en-US" sz="1400" dirty="0"/>
          </a:p>
        </p:txBody>
      </p:sp>
      <p:sp>
        <p:nvSpPr>
          <p:cNvPr id="39" name="Shape 37"/>
          <p:cNvSpPr/>
          <p:nvPr/>
        </p:nvSpPr>
        <p:spPr>
          <a:xfrm>
            <a:off x="6309360" y="4251960"/>
            <a:ext cx="5212080" cy="1874520"/>
          </a:xfrm>
          <a:prstGeom prst="roundRect">
            <a:avLst>
              <a:gd name="adj" fmla="val 4878"/>
            </a:avLst>
          </a:prstGeom>
          <a:solidFill>
            <a:srgbClr val="FFFFFF"/>
          </a:solidFill>
          <a:ln/>
          <a:effectLst>
            <a:outerShdw sx="100000" sy="100000" kx="0" ky="0" algn="bl" rotWithShape="0" blurRad="114300" dist="38100" dir="5400000">
              <a:srgbClr val="0A1F3D">
                <a:alpha val="16000"/>
              </a:srgbClr>
            </a:outerShdw>
          </a:effectLst>
        </p:spPr>
      </p:sp>
      <p:sp>
        <p:nvSpPr>
          <p:cNvPr id="40" name="Text 38"/>
          <p:cNvSpPr/>
          <p:nvPr/>
        </p:nvSpPr>
        <p:spPr>
          <a:xfrm>
            <a:off x="6629400" y="4389120"/>
            <a:ext cx="4572000" cy="274320"/>
          </a:xfrm>
          <a:prstGeom prst="rect">
            <a:avLst/>
          </a:prstGeom>
          <a:noFill/>
          <a:ln/>
        </p:spPr>
        <p:txBody>
          <a:bodyPr wrap="square" lIns="0" tIns="0" rIns="0" bIns="0" rtlCol="0" anchor="ctr"/>
          <a:lstStyle/>
          <a:p>
            <a:pPr indent="0" marL="0">
              <a:buNone/>
            </a:pPr>
            <a:r>
              <a:rPr lang="en-US" sz="1150" b="1" spc="200" kern="0" dirty="0">
                <a:solidFill>
                  <a:srgbClr val="5B6B82"/>
                </a:solidFill>
                <a:latin typeface="Arial" pitchFamily="34" charset="0"/>
                <a:ea typeface="Arial" pitchFamily="34" charset="-122"/>
                <a:cs typeface="Arial" pitchFamily="34" charset="-120"/>
              </a:rPr>
              <a:t>MUESTRAN EN PANTALLA</a:t>
            </a:r>
            <a:endParaRPr lang="en-US" sz="1150" dirty="0"/>
          </a:p>
        </p:txBody>
      </p:sp>
      <p:sp>
        <p:nvSpPr>
          <p:cNvPr id="41" name="Text 39"/>
          <p:cNvSpPr/>
          <p:nvPr/>
        </p:nvSpPr>
        <p:spPr>
          <a:xfrm>
            <a:off x="6629400" y="4709160"/>
            <a:ext cx="4572000" cy="1280160"/>
          </a:xfrm>
          <a:prstGeom prst="rect">
            <a:avLst/>
          </a:prstGeom>
          <a:noFill/>
          <a:ln/>
        </p:spPr>
        <p:txBody>
          <a:bodyPr wrap="square" lIns="0" tIns="0" rIns="0" bIns="0" rtlCol="0" anchor="ctr"/>
          <a:lstStyle/>
          <a:p>
            <a:pPr indent="0" marL="0">
              <a:lnSpc>
                <a:spcPts val="2200"/>
              </a:lnSpc>
              <a:buNone/>
            </a:pPr>
            <a:r>
              <a:rPr lang="en-US" sz="1400" b="1" dirty="0">
                <a:solidFill>
                  <a:srgbClr val="0F2240"/>
                </a:solidFill>
                <a:latin typeface="Courier New" pitchFamily="34" charset="0"/>
                <a:ea typeface="Courier New" pitchFamily="34" charset="-122"/>
                <a:cs typeface="Courier New" pitchFamily="34" charset="-120"/>
              </a:rPr>
              <a:t>mostrar_dashboard()</a:t>
            </a:r>
            <a:endParaRPr lang="en-US" sz="1400" dirty="0"/>
          </a:p>
          <a:p>
            <a:pPr indent="0" marL="0">
              <a:lnSpc>
                <a:spcPts val="2200"/>
              </a:lnSpc>
              <a:buNone/>
            </a:pPr>
            <a:r>
              <a:rPr lang="en-US" sz="1400" b="1" dirty="0">
                <a:solidFill>
                  <a:srgbClr val="0F2240"/>
                </a:solidFill>
                <a:latin typeface="Courier New" pitchFamily="34" charset="0"/>
                <a:ea typeface="Courier New" pitchFamily="34" charset="-122"/>
                <a:cs typeface="Courier New" pitchFamily="34" charset="-120"/>
              </a:rPr>
              <a:t>mostrar_menu()</a:t>
            </a:r>
            <a:endParaRPr lang="en-US" sz="1400" dirty="0"/>
          </a:p>
          <a:p>
            <a:pPr indent="0" marL="0">
              <a:lnSpc>
                <a:spcPts val="2200"/>
              </a:lnSpc>
              <a:buNone/>
            </a:pPr>
            <a:r>
              <a:rPr lang="en-US" sz="1400" b="1" dirty="0">
                <a:solidFill>
                  <a:srgbClr val="0F2240"/>
                </a:solidFill>
                <a:latin typeface="Courier New" pitchFamily="34" charset="0"/>
                <a:ea typeface="Courier New" pitchFamily="34" charset="-122"/>
                <a:cs typeface="Courier New" pitchFamily="34" charset="-120"/>
              </a:rPr>
              <a:t>mostrar_noticias()</a:t>
            </a:r>
            <a:endParaRPr lang="en-US" sz="1400" dirty="0"/>
          </a:p>
          <a:p>
            <a:pPr indent="0" marL="0">
              <a:lnSpc>
                <a:spcPts val="2200"/>
              </a:lnSpc>
              <a:buNone/>
            </a:pPr>
            <a:r>
              <a:rPr lang="en-US" sz="1400" b="1" dirty="0">
                <a:solidFill>
                  <a:srgbClr val="0F2240"/>
                </a:solidFill>
                <a:latin typeface="Courier New" pitchFamily="34" charset="0"/>
                <a:ea typeface="Courier New" pitchFamily="34" charset="-122"/>
                <a:cs typeface="Courier New" pitchFamily="34" charset="-120"/>
              </a:rPr>
              <a:t>main()  </a:t>
            </a:r>
            <a:pPr indent="0" marL="0">
              <a:lnSpc>
                <a:spcPts val="2200"/>
              </a:lnSpc>
              <a:buNone/>
            </a:pPr>
            <a:r>
              <a:rPr lang="en-US" sz="1400" i="1" dirty="0">
                <a:solidFill>
                  <a:srgbClr val="5B6B82"/>
                </a:solidFill>
                <a:latin typeface="Arial" pitchFamily="34" charset="0"/>
                <a:ea typeface="Arial" pitchFamily="34" charset="-122"/>
                <a:cs typeface="Arial" pitchFamily="34" charset="-120"/>
              </a:rPr>
              <a:t>— el director de orquesta</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F3D"/>
        </a:solidFill>
      </p:bgPr>
    </p:bg>
    <p:spTree>
      <p:nvGrpSpPr>
        <p:cNvPr id="1" name=""/>
        <p:cNvGrpSpPr/>
        <p:nvPr/>
      </p:nvGrpSpPr>
      <p:grpSpPr>
        <a:xfrm>
          <a:off x="0" y="0"/>
          <a:ext cx="0" cy="0"/>
          <a:chOff x="0" y="0"/>
          <a:chExt cx="0" cy="0"/>
        </a:xfrm>
      </p:grpSpPr>
      <p:sp>
        <p:nvSpPr>
          <p:cNvPr id="2" name="Shape 0"/>
          <p:cNvSpPr/>
          <p:nvPr/>
        </p:nvSpPr>
        <p:spPr>
          <a:xfrm>
            <a:off x="-1828800" y="3931920"/>
            <a:ext cx="5943600" cy="5943600"/>
          </a:xfrm>
          <a:prstGeom prst="ellipse">
            <a:avLst/>
          </a:prstGeom>
          <a:solidFill>
            <a:srgbClr val="12305C">
              <a:alpha val="60000"/>
            </a:srgbClr>
          </a:solidFill>
          <a:ln/>
        </p:spPr>
      </p:sp>
      <p:sp>
        <p:nvSpPr>
          <p:cNvPr id="3" name="Text 1"/>
          <p:cNvSpPr/>
          <p:nvPr/>
        </p:nvSpPr>
        <p:spPr>
          <a:xfrm>
            <a:off x="640080" y="502920"/>
            <a:ext cx="10058400" cy="320040"/>
          </a:xfrm>
          <a:prstGeom prst="rect">
            <a:avLst/>
          </a:prstGeom>
          <a:noFill/>
          <a:ln/>
        </p:spPr>
        <p:txBody>
          <a:bodyPr wrap="square" lIns="0" tIns="0" rIns="0" bIns="0" rtlCol="0" anchor="ctr"/>
          <a:lstStyle/>
          <a:p>
            <a:pPr indent="0" marL="0">
              <a:buNone/>
            </a:pPr>
            <a:r>
              <a:rPr lang="en-US" sz="1300" b="1" spc="300" kern="0" dirty="0">
                <a:solidFill>
                  <a:srgbClr val="38BDF8"/>
                </a:solidFill>
                <a:latin typeface="Arial" pitchFamily="34" charset="0"/>
                <a:ea typeface="Arial" pitchFamily="34" charset="-122"/>
                <a:cs typeface="Arial" pitchFamily="34" charset="-120"/>
              </a:rPr>
              <a:t>LO MÁS VALIOSO QUE APRENDÍ</a:t>
            </a:r>
            <a:endParaRPr lang="en-US" sz="1300" dirty="0"/>
          </a:p>
        </p:txBody>
      </p:sp>
      <p:sp>
        <p:nvSpPr>
          <p:cNvPr id="4" name="Text 2"/>
          <p:cNvSpPr/>
          <p:nvPr/>
        </p:nvSpPr>
        <p:spPr>
          <a:xfrm>
            <a:off x="640080" y="822960"/>
            <a:ext cx="10972800" cy="731520"/>
          </a:xfrm>
          <a:prstGeom prst="rect">
            <a:avLst/>
          </a:prstGeom>
          <a:noFill/>
          <a:ln/>
        </p:spPr>
        <p:txBody>
          <a:bodyPr wrap="square" lIns="0" tIns="0" rIns="0" bIns="0" rtlCol="0" anchor="ctr"/>
          <a:lstStyle/>
          <a:p>
            <a:pPr indent="0" marL="0">
              <a:buNone/>
            </a:pPr>
            <a:r>
              <a:rPr lang="en-US" sz="3300" b="1" dirty="0">
                <a:solidFill>
                  <a:srgbClr val="FFFFFF"/>
                </a:solidFill>
                <a:latin typeface="Cambria" pitchFamily="34" charset="0"/>
                <a:ea typeface="Cambria" pitchFamily="34" charset="-122"/>
                <a:cs typeface="Cambria" pitchFamily="34" charset="-120"/>
              </a:rPr>
              <a:t>El patrón que se repite en todo</a:t>
            </a:r>
            <a:endParaRPr lang="en-US" sz="3300" dirty="0"/>
          </a:p>
        </p:txBody>
      </p:sp>
      <p:sp>
        <p:nvSpPr>
          <p:cNvPr id="5" name="Shape 3"/>
          <p:cNvSpPr/>
          <p:nvPr/>
        </p:nvSpPr>
        <p:spPr>
          <a:xfrm>
            <a:off x="640080" y="1828800"/>
            <a:ext cx="6766560" cy="2743200"/>
          </a:xfrm>
          <a:prstGeom prst="roundRect">
            <a:avLst>
              <a:gd name="adj" fmla="val 3333"/>
            </a:avLst>
          </a:prstGeom>
          <a:solidFill>
            <a:srgbClr val="07172E"/>
          </a:solidFill>
          <a:ln w="12700">
            <a:solidFill>
              <a:srgbClr val="1E3A63"/>
            </a:solidFill>
            <a:prstDash val="solid"/>
          </a:ln>
        </p:spPr>
      </p:sp>
      <p:sp>
        <p:nvSpPr>
          <p:cNvPr id="6" name="Text 4"/>
          <p:cNvSpPr/>
          <p:nvPr/>
        </p:nvSpPr>
        <p:spPr>
          <a:xfrm>
            <a:off x="1005840" y="2103120"/>
            <a:ext cx="6126480" cy="2240280"/>
          </a:xfrm>
          <a:prstGeom prst="rect">
            <a:avLst/>
          </a:prstGeom>
          <a:noFill/>
          <a:ln/>
        </p:spPr>
        <p:txBody>
          <a:bodyPr wrap="square" lIns="0" tIns="0" rIns="0" bIns="0" rtlCol="0" anchor="ctr"/>
          <a:lstStyle/>
          <a:p>
            <a:pPr indent="0" marL="0">
              <a:lnSpc>
                <a:spcPts val="2600"/>
              </a:lnSpc>
              <a:buNone/>
            </a:pPr>
            <a:r>
              <a:rPr lang="en-US" sz="1550" dirty="0">
                <a:solidFill>
                  <a:srgbClr val="7E93B5"/>
                </a:solidFill>
                <a:latin typeface="Courier New" pitchFamily="34" charset="0"/>
                <a:ea typeface="Courier New" pitchFamily="34" charset="-122"/>
                <a:cs typeface="Courier New" pitchFamily="34" charset="-120"/>
              </a:rPr>
              <a:t># Siempre lo mismo, cambia la URL
</a:t>
            </a:r>
            <a:pPr indent="0" marL="0">
              <a:lnSpc>
                <a:spcPts val="2600"/>
              </a:lnSpc>
              <a:buNone/>
            </a:pPr>
            <a:r>
              <a:rPr lang="en-US" sz="1550" dirty="0">
                <a:solidFill>
                  <a:srgbClr val="E6EEFA"/>
                </a:solidFill>
                <a:latin typeface="Courier New" pitchFamily="34" charset="0"/>
                <a:ea typeface="Courier New" pitchFamily="34" charset="-122"/>
                <a:cs typeface="Courier New" pitchFamily="34" charset="-120"/>
              </a:rPr>
              <a:t>url   = </a:t>
            </a:r>
            <a:pPr indent="0" marL="0">
              <a:lnSpc>
                <a:spcPts val="2600"/>
              </a:lnSpc>
              <a:buNone/>
            </a:pPr>
            <a:r>
              <a:rPr lang="en-US" sz="1550" dirty="0">
                <a:solidFill>
                  <a:srgbClr val="9BE7A8"/>
                </a:solidFill>
                <a:latin typeface="Courier New" pitchFamily="34" charset="0"/>
                <a:ea typeface="Courier New" pitchFamily="34" charset="-122"/>
                <a:cs typeface="Courier New" pitchFamily="34" charset="-120"/>
              </a:rPr>
              <a:t>"https://api...."
</a:t>
            </a:r>
            <a:pPr indent="0" marL="0">
              <a:lnSpc>
                <a:spcPts val="2600"/>
              </a:lnSpc>
              <a:buNone/>
            </a:pPr>
            <a:r>
              <a:rPr lang="en-US" sz="1550" dirty="0">
                <a:solidFill>
                  <a:srgbClr val="7E93B5"/>
                </a:solidFill>
                <a:latin typeface="Courier New" pitchFamily="34" charset="0"/>
                <a:ea typeface="Courier New" pitchFamily="34" charset="-122"/>
                <a:cs typeface="Courier New" pitchFamily="34" charset="-120"/>
              </a:rPr>
              <a:t># ir → traer → convertir
</a:t>
            </a:r>
            <a:pPr indent="0" marL="0">
              <a:lnSpc>
                <a:spcPts val="2600"/>
              </a:lnSpc>
              <a:buNone/>
            </a:pPr>
            <a:r>
              <a:rPr lang="en-US" sz="1550" dirty="0">
                <a:solidFill>
                  <a:srgbClr val="E6EEFA"/>
                </a:solidFill>
                <a:latin typeface="Courier New" pitchFamily="34" charset="0"/>
                <a:ea typeface="Courier New" pitchFamily="34" charset="-122"/>
                <a:cs typeface="Courier New" pitchFamily="34" charset="-120"/>
              </a:rPr>
              <a:t>datos = requests.</a:t>
            </a:r>
            <a:pPr indent="0" marL="0">
              <a:lnSpc>
                <a:spcPts val="2600"/>
              </a:lnSpc>
              <a:buNone/>
            </a:pPr>
            <a:r>
              <a:rPr lang="en-US" sz="1550" dirty="0">
                <a:solidFill>
                  <a:srgbClr val="38BDF8"/>
                </a:solidFill>
                <a:latin typeface="Courier New" pitchFamily="34" charset="0"/>
                <a:ea typeface="Courier New" pitchFamily="34" charset="-122"/>
                <a:cs typeface="Courier New" pitchFamily="34" charset="-120"/>
              </a:rPr>
              <a:t>get</a:t>
            </a:r>
            <a:pPr indent="0" marL="0">
              <a:lnSpc>
                <a:spcPts val="2600"/>
              </a:lnSpc>
              <a:buNone/>
            </a:pPr>
            <a:r>
              <a:rPr lang="en-US" sz="1550" dirty="0">
                <a:solidFill>
                  <a:srgbClr val="E6EEFA"/>
                </a:solidFill>
                <a:latin typeface="Courier New" pitchFamily="34" charset="0"/>
                <a:ea typeface="Courier New" pitchFamily="34" charset="-122"/>
                <a:cs typeface="Courier New" pitchFamily="34" charset="-120"/>
              </a:rPr>
              <a:t>(url).</a:t>
            </a:r>
            <a:pPr indent="0" marL="0">
              <a:lnSpc>
                <a:spcPts val="2600"/>
              </a:lnSpc>
              <a:buNone/>
            </a:pPr>
            <a:r>
              <a:rPr lang="en-US" sz="1550" dirty="0">
                <a:solidFill>
                  <a:srgbClr val="38BDF8"/>
                </a:solidFill>
                <a:latin typeface="Courier New" pitchFamily="34" charset="0"/>
                <a:ea typeface="Courier New" pitchFamily="34" charset="-122"/>
                <a:cs typeface="Courier New" pitchFamily="34" charset="-120"/>
              </a:rPr>
              <a:t>json</a:t>
            </a:r>
            <a:pPr indent="0" marL="0">
              <a:lnSpc>
                <a:spcPts val="2600"/>
              </a:lnSpc>
              <a:buNone/>
            </a:pPr>
            <a:r>
              <a:rPr lang="en-US" sz="1550" dirty="0">
                <a:solidFill>
                  <a:srgbClr val="E6EEFA"/>
                </a:solidFill>
                <a:latin typeface="Courier New" pitchFamily="34" charset="0"/>
                <a:ea typeface="Courier New" pitchFamily="34" charset="-122"/>
                <a:cs typeface="Courier New" pitchFamily="34" charset="-120"/>
              </a:rPr>
              <a:t>()
</a:t>
            </a:r>
            <a:pPr indent="0" marL="0">
              <a:lnSpc>
                <a:spcPts val="2600"/>
              </a:lnSpc>
              <a:buNone/>
            </a:pPr>
            <a:r>
              <a:rPr lang="en-US" sz="1550" dirty="0">
                <a:solidFill>
                  <a:srgbClr val="7E93B5"/>
                </a:solidFill>
                <a:latin typeface="Courier New" pitchFamily="34" charset="0"/>
                <a:ea typeface="Courier New" pitchFamily="34" charset="-122"/>
                <a:cs typeface="Courier New" pitchFamily="34" charset="-120"/>
              </a:rPr>
              <a:t># extraer lo que necesito
</a:t>
            </a:r>
            <a:pPr indent="0" marL="0">
              <a:lnSpc>
                <a:spcPts val="2600"/>
              </a:lnSpc>
              <a:buNone/>
            </a:pPr>
            <a:r>
              <a:rPr lang="en-US" sz="1550" dirty="0">
                <a:solidFill>
                  <a:srgbClr val="E6EEFA"/>
                </a:solidFill>
                <a:latin typeface="Courier New" pitchFamily="34" charset="0"/>
                <a:ea typeface="Courier New" pitchFamily="34" charset="-122"/>
                <a:cs typeface="Courier New" pitchFamily="34" charset="-120"/>
              </a:rPr>
              <a:t>valor = datos[</a:t>
            </a:r>
            <a:pPr indent="0" marL="0">
              <a:lnSpc>
                <a:spcPts val="2600"/>
              </a:lnSpc>
              <a:buNone/>
            </a:pPr>
            <a:r>
              <a:rPr lang="en-US" sz="1550" dirty="0">
                <a:solidFill>
                  <a:srgbClr val="9BE7A8"/>
                </a:solidFill>
                <a:latin typeface="Courier New" pitchFamily="34" charset="0"/>
                <a:ea typeface="Courier New" pitchFamily="34" charset="-122"/>
                <a:cs typeface="Courier New" pitchFamily="34" charset="-120"/>
              </a:rPr>
              <a:t>"llave"</a:t>
            </a:r>
            <a:pPr indent="0" marL="0">
              <a:lnSpc>
                <a:spcPts val="2600"/>
              </a:lnSpc>
              <a:buNone/>
            </a:pPr>
            <a:r>
              <a:rPr lang="en-US" sz="1550" dirty="0">
                <a:solidFill>
                  <a:srgbClr val="E6EEFA"/>
                </a:solidFill>
                <a:latin typeface="Courier New" pitchFamily="34" charset="0"/>
                <a:ea typeface="Courier New" pitchFamily="34" charset="-122"/>
                <a:cs typeface="Courier New" pitchFamily="34" charset="-120"/>
              </a:rPr>
              <a:t>]</a:t>
            </a:r>
            <a:endParaRPr lang="en-US" sz="1550" dirty="0"/>
          </a:p>
        </p:txBody>
      </p:sp>
      <p:sp>
        <p:nvSpPr>
          <p:cNvPr id="7" name="Text 5"/>
          <p:cNvSpPr/>
          <p:nvPr/>
        </p:nvSpPr>
        <p:spPr>
          <a:xfrm>
            <a:off x="7772400" y="1828800"/>
            <a:ext cx="3749040" cy="365760"/>
          </a:xfrm>
          <a:prstGeom prst="rect">
            <a:avLst/>
          </a:prstGeom>
          <a:noFill/>
          <a:ln/>
        </p:spPr>
        <p:txBody>
          <a:bodyPr wrap="square" lIns="0" tIns="0" rIns="0" bIns="0" rtlCol="0" anchor="ctr"/>
          <a:lstStyle/>
          <a:p>
            <a:pPr indent="0" marL="0">
              <a:buNone/>
            </a:pPr>
            <a:r>
              <a:rPr lang="en-US" sz="1500" b="1" dirty="0">
                <a:solidFill>
                  <a:srgbClr val="38BDF8"/>
                </a:solidFill>
                <a:latin typeface="Arial" pitchFamily="34" charset="0"/>
                <a:ea typeface="Arial" pitchFamily="34" charset="-122"/>
                <a:cs typeface="Arial" pitchFamily="34" charset="-120"/>
              </a:rPr>
              <a:t>Tres APIs, el mismo código</a:t>
            </a:r>
            <a:endParaRPr lang="en-US" sz="1500" dirty="0"/>
          </a:p>
        </p:txBody>
      </p:sp>
      <p:sp>
        <p:nvSpPr>
          <p:cNvPr id="8" name="Shape 6"/>
          <p:cNvSpPr/>
          <p:nvPr/>
        </p:nvSpPr>
        <p:spPr>
          <a:xfrm>
            <a:off x="7772400" y="2331720"/>
            <a:ext cx="3749040" cy="713232"/>
          </a:xfrm>
          <a:prstGeom prst="roundRect">
            <a:avLst>
              <a:gd name="adj" fmla="val 10256"/>
            </a:avLst>
          </a:prstGeom>
          <a:solidFill>
            <a:srgbClr val="12305C"/>
          </a:solidFill>
          <a:ln/>
        </p:spPr>
      </p:sp>
      <p:sp>
        <p:nvSpPr>
          <p:cNvPr id="9" name="Shape 7"/>
          <p:cNvSpPr/>
          <p:nvPr/>
        </p:nvSpPr>
        <p:spPr>
          <a:xfrm>
            <a:off x="7936992" y="2505456"/>
            <a:ext cx="365760" cy="365760"/>
          </a:xfrm>
          <a:prstGeom prst="ellipse">
            <a:avLst/>
          </a:prstGeom>
          <a:solidFill>
            <a:srgbClr val="FFFFFF"/>
          </a:solidFill>
          <a:ln/>
        </p:spPr>
      </p:sp>
      <p:pic>
        <p:nvPicPr>
          <p:cNvPr id="10" name="Image 0" descr="preencoded.png">    </p:cNvPr>
          <p:cNvPicPr>
            <a:picLocks noChangeAspect="1"/>
          </p:cNvPicPr>
          <p:nvPr/>
        </p:nvPicPr>
        <p:blipFill>
          <a:blip r:embed="rId1"/>
          <a:stretch>
            <a:fillRect/>
          </a:stretch>
        </p:blipFill>
        <p:spPr>
          <a:xfrm>
            <a:off x="8019288" y="2587752"/>
            <a:ext cx="201168" cy="201168"/>
          </a:xfrm>
          <a:prstGeom prst="rect">
            <a:avLst/>
          </a:prstGeom>
        </p:spPr>
      </p:pic>
      <p:sp>
        <p:nvSpPr>
          <p:cNvPr id="11" name="Text 8"/>
          <p:cNvSpPr/>
          <p:nvPr/>
        </p:nvSpPr>
        <p:spPr>
          <a:xfrm>
            <a:off x="8430768" y="2404872"/>
            <a:ext cx="292608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OpenWeatherMap</a:t>
            </a:r>
            <a:endParaRPr lang="en-US" sz="1300" dirty="0"/>
          </a:p>
        </p:txBody>
      </p:sp>
      <p:sp>
        <p:nvSpPr>
          <p:cNvPr id="12" name="Text 9"/>
          <p:cNvSpPr/>
          <p:nvPr/>
        </p:nvSpPr>
        <p:spPr>
          <a:xfrm>
            <a:off x="8430768" y="2697480"/>
            <a:ext cx="2971800" cy="274320"/>
          </a:xfrm>
          <a:prstGeom prst="rect">
            <a:avLst/>
          </a:prstGeom>
          <a:noFill/>
          <a:ln/>
        </p:spPr>
        <p:txBody>
          <a:bodyPr wrap="square" lIns="0" tIns="0" rIns="0" bIns="0" rtlCol="0" anchor="ctr"/>
          <a:lstStyle/>
          <a:p>
            <a:pPr indent="0" marL="0">
              <a:buNone/>
            </a:pPr>
            <a:r>
              <a:rPr lang="en-US" sz="960" dirty="0">
                <a:solidFill>
                  <a:srgbClr val="38BDF8"/>
                </a:solidFill>
                <a:latin typeface="Courier New" pitchFamily="34" charset="0"/>
                <a:ea typeface="Courier New" pitchFamily="34" charset="-122"/>
                <a:cs typeface="Courier New" pitchFamily="34" charset="-120"/>
              </a:rPr>
              <a:t>datos["main"]["temp"]</a:t>
            </a:r>
            <a:endParaRPr lang="en-US" sz="960" dirty="0"/>
          </a:p>
        </p:txBody>
      </p:sp>
      <p:sp>
        <p:nvSpPr>
          <p:cNvPr id="13" name="Shape 10"/>
          <p:cNvSpPr/>
          <p:nvPr/>
        </p:nvSpPr>
        <p:spPr>
          <a:xfrm>
            <a:off x="7772400" y="3154680"/>
            <a:ext cx="3749040" cy="713232"/>
          </a:xfrm>
          <a:prstGeom prst="roundRect">
            <a:avLst>
              <a:gd name="adj" fmla="val 10256"/>
            </a:avLst>
          </a:prstGeom>
          <a:solidFill>
            <a:srgbClr val="12305C"/>
          </a:solidFill>
          <a:ln/>
        </p:spPr>
      </p:sp>
      <p:sp>
        <p:nvSpPr>
          <p:cNvPr id="14" name="Shape 11"/>
          <p:cNvSpPr/>
          <p:nvPr/>
        </p:nvSpPr>
        <p:spPr>
          <a:xfrm>
            <a:off x="7936992" y="3328416"/>
            <a:ext cx="365760" cy="365760"/>
          </a:xfrm>
          <a:prstGeom prst="ellipse">
            <a:avLst/>
          </a:prstGeom>
          <a:solidFill>
            <a:srgbClr val="FFFFFF"/>
          </a:solidFill>
          <a:ln/>
        </p:spPr>
      </p:sp>
      <p:pic>
        <p:nvPicPr>
          <p:cNvPr id="15" name="Image 1" descr="preencoded.png">    </p:cNvPr>
          <p:cNvPicPr>
            <a:picLocks noChangeAspect="1"/>
          </p:cNvPicPr>
          <p:nvPr/>
        </p:nvPicPr>
        <p:blipFill>
          <a:blip r:embed="rId2"/>
          <a:stretch>
            <a:fillRect/>
          </a:stretch>
        </p:blipFill>
        <p:spPr>
          <a:xfrm>
            <a:off x="8019288" y="3410712"/>
            <a:ext cx="201168" cy="201168"/>
          </a:xfrm>
          <a:prstGeom prst="rect">
            <a:avLst/>
          </a:prstGeom>
        </p:spPr>
      </p:pic>
      <p:sp>
        <p:nvSpPr>
          <p:cNvPr id="16" name="Text 12"/>
          <p:cNvSpPr/>
          <p:nvPr/>
        </p:nvSpPr>
        <p:spPr>
          <a:xfrm>
            <a:off x="8430768" y="3227832"/>
            <a:ext cx="292608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ExchangeRate</a:t>
            </a:r>
            <a:endParaRPr lang="en-US" sz="1300" dirty="0"/>
          </a:p>
        </p:txBody>
      </p:sp>
      <p:sp>
        <p:nvSpPr>
          <p:cNvPr id="17" name="Text 13"/>
          <p:cNvSpPr/>
          <p:nvPr/>
        </p:nvSpPr>
        <p:spPr>
          <a:xfrm>
            <a:off x="8430768" y="3520440"/>
            <a:ext cx="2971800" cy="274320"/>
          </a:xfrm>
          <a:prstGeom prst="rect">
            <a:avLst/>
          </a:prstGeom>
          <a:noFill/>
          <a:ln/>
        </p:spPr>
        <p:txBody>
          <a:bodyPr wrap="square" lIns="0" tIns="0" rIns="0" bIns="0" rtlCol="0" anchor="ctr"/>
          <a:lstStyle/>
          <a:p>
            <a:pPr indent="0" marL="0">
              <a:buNone/>
            </a:pPr>
            <a:r>
              <a:rPr lang="en-US" sz="960" dirty="0">
                <a:solidFill>
                  <a:srgbClr val="38BDF8"/>
                </a:solidFill>
                <a:latin typeface="Courier New" pitchFamily="34" charset="0"/>
                <a:ea typeface="Courier New" pitchFamily="34" charset="-122"/>
                <a:cs typeface="Courier New" pitchFamily="34" charset="-120"/>
              </a:rPr>
              <a:t>datos["conversion_rates"]</a:t>
            </a:r>
            <a:endParaRPr lang="en-US" sz="960" dirty="0"/>
          </a:p>
        </p:txBody>
      </p:sp>
      <p:sp>
        <p:nvSpPr>
          <p:cNvPr id="18" name="Shape 14"/>
          <p:cNvSpPr/>
          <p:nvPr/>
        </p:nvSpPr>
        <p:spPr>
          <a:xfrm>
            <a:off x="7772400" y="3977640"/>
            <a:ext cx="3749040" cy="713232"/>
          </a:xfrm>
          <a:prstGeom prst="roundRect">
            <a:avLst>
              <a:gd name="adj" fmla="val 10256"/>
            </a:avLst>
          </a:prstGeom>
          <a:solidFill>
            <a:srgbClr val="12305C"/>
          </a:solidFill>
          <a:ln/>
        </p:spPr>
      </p:sp>
      <p:sp>
        <p:nvSpPr>
          <p:cNvPr id="19" name="Shape 15"/>
          <p:cNvSpPr/>
          <p:nvPr/>
        </p:nvSpPr>
        <p:spPr>
          <a:xfrm>
            <a:off x="7936992" y="4151376"/>
            <a:ext cx="365760" cy="365760"/>
          </a:xfrm>
          <a:prstGeom prst="ellipse">
            <a:avLst/>
          </a:prstGeom>
          <a:solidFill>
            <a:srgbClr val="FFFFFF"/>
          </a:solidFill>
          <a:ln/>
        </p:spPr>
      </p:sp>
      <p:pic>
        <p:nvPicPr>
          <p:cNvPr id="20" name="Image 2" descr="preencoded.png">    </p:cNvPr>
          <p:cNvPicPr>
            <a:picLocks noChangeAspect="1"/>
          </p:cNvPicPr>
          <p:nvPr/>
        </p:nvPicPr>
        <p:blipFill>
          <a:blip r:embed="rId3"/>
          <a:stretch>
            <a:fillRect/>
          </a:stretch>
        </p:blipFill>
        <p:spPr>
          <a:xfrm>
            <a:off x="8019288" y="4233672"/>
            <a:ext cx="201168" cy="201168"/>
          </a:xfrm>
          <a:prstGeom prst="rect">
            <a:avLst/>
          </a:prstGeom>
        </p:spPr>
      </p:pic>
      <p:sp>
        <p:nvSpPr>
          <p:cNvPr id="21" name="Text 16"/>
          <p:cNvSpPr/>
          <p:nvPr/>
        </p:nvSpPr>
        <p:spPr>
          <a:xfrm>
            <a:off x="8430768" y="4050792"/>
            <a:ext cx="2926080"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ESPN</a:t>
            </a:r>
            <a:endParaRPr lang="en-US" sz="1300" dirty="0"/>
          </a:p>
        </p:txBody>
      </p:sp>
      <p:sp>
        <p:nvSpPr>
          <p:cNvPr id="22" name="Text 17"/>
          <p:cNvSpPr/>
          <p:nvPr/>
        </p:nvSpPr>
        <p:spPr>
          <a:xfrm>
            <a:off x="8430768" y="4343400"/>
            <a:ext cx="2971800" cy="274320"/>
          </a:xfrm>
          <a:prstGeom prst="rect">
            <a:avLst/>
          </a:prstGeom>
          <a:noFill/>
          <a:ln/>
        </p:spPr>
        <p:txBody>
          <a:bodyPr wrap="square" lIns="0" tIns="0" rIns="0" bIns="0" rtlCol="0" anchor="ctr"/>
          <a:lstStyle/>
          <a:p>
            <a:pPr indent="0" marL="0">
              <a:buNone/>
            </a:pPr>
            <a:r>
              <a:rPr lang="en-US" sz="960" dirty="0">
                <a:solidFill>
                  <a:srgbClr val="38BDF8"/>
                </a:solidFill>
                <a:latin typeface="Courier New" pitchFamily="34" charset="0"/>
                <a:ea typeface="Courier New" pitchFamily="34" charset="-122"/>
                <a:cs typeface="Courier New" pitchFamily="34" charset="-120"/>
              </a:rPr>
              <a:t>datos["articles"]</a:t>
            </a:r>
            <a:endParaRPr lang="en-US" sz="960" dirty="0"/>
          </a:p>
        </p:txBody>
      </p:sp>
      <p:sp>
        <p:nvSpPr>
          <p:cNvPr id="23" name="Shape 18"/>
          <p:cNvSpPr/>
          <p:nvPr/>
        </p:nvSpPr>
        <p:spPr>
          <a:xfrm>
            <a:off x="640080" y="4937760"/>
            <a:ext cx="10881360" cy="1325880"/>
          </a:xfrm>
          <a:prstGeom prst="roundRect">
            <a:avLst>
              <a:gd name="adj" fmla="val 6897"/>
            </a:avLst>
          </a:prstGeom>
          <a:solidFill>
            <a:srgbClr val="1D6FE0">
              <a:alpha val="88000"/>
            </a:srgbClr>
          </a:solidFill>
          <a:ln/>
        </p:spPr>
      </p:sp>
      <p:pic>
        <p:nvPicPr>
          <p:cNvPr id="24" name="Image 3" descr="preencoded.png">    </p:cNvPr>
          <p:cNvPicPr>
            <a:picLocks noChangeAspect="1"/>
          </p:cNvPicPr>
          <p:nvPr/>
        </p:nvPicPr>
        <p:blipFill>
          <a:blip r:embed="rId4"/>
          <a:stretch>
            <a:fillRect/>
          </a:stretch>
        </p:blipFill>
        <p:spPr>
          <a:xfrm>
            <a:off x="960120" y="5285232"/>
            <a:ext cx="502920" cy="502920"/>
          </a:xfrm>
          <a:prstGeom prst="rect">
            <a:avLst/>
          </a:prstGeom>
        </p:spPr>
      </p:pic>
      <p:sp>
        <p:nvSpPr>
          <p:cNvPr id="25" name="Text 19"/>
          <p:cNvSpPr/>
          <p:nvPr/>
        </p:nvSpPr>
        <p:spPr>
          <a:xfrm>
            <a:off x="1691640" y="5074920"/>
            <a:ext cx="9509760" cy="1051560"/>
          </a:xfrm>
          <a:prstGeom prst="rect">
            <a:avLst/>
          </a:prstGeom>
          <a:noFill/>
          <a:ln/>
        </p:spPr>
        <p:txBody>
          <a:bodyPr wrap="square" lIns="0" tIns="0" rIns="0" bIns="0" rtlCol="0" anchor="ctr"/>
          <a:lstStyle/>
          <a:p>
            <a:pPr indent="0" marL="0">
              <a:lnSpc>
                <a:spcPts val="2200"/>
              </a:lnSpc>
              <a:buNone/>
            </a:pPr>
            <a:r>
              <a:rPr lang="en-US" sz="1500" b="1" dirty="0">
                <a:solidFill>
                  <a:srgbClr val="FFFFFF"/>
                </a:solidFill>
                <a:latin typeface="Arial" pitchFamily="34" charset="0"/>
                <a:ea typeface="Arial" pitchFamily="34" charset="-122"/>
                <a:cs typeface="Arial" pitchFamily="34" charset="-120"/>
              </a:rPr>
              <a:t>Una vez que entendés este patrón, podés conectarte a cualquier API del mundo.  </a:t>
            </a:r>
            <a:pPr indent="0" marL="0">
              <a:lnSpc>
                <a:spcPts val="2200"/>
              </a:lnSpc>
              <a:buNone/>
            </a:pPr>
            <a:r>
              <a:rPr lang="en-US" sz="1500" dirty="0">
                <a:solidFill>
                  <a:srgbClr val="D6E4F7"/>
                </a:solidFill>
                <a:latin typeface="Arial" pitchFamily="34" charset="0"/>
                <a:ea typeface="Arial" pitchFamily="34" charset="-122"/>
                <a:cs typeface="Arial" pitchFamily="34" charset="-120"/>
              </a:rPr>
              <a:t>Lo apliqué con tres APIs completamente distintas y el código es casi idéntico en los tres casos.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640080" y="411480"/>
            <a:ext cx="10058400" cy="320040"/>
          </a:xfrm>
          <a:prstGeom prst="rect">
            <a:avLst/>
          </a:prstGeom>
          <a:noFill/>
          <a:ln/>
        </p:spPr>
        <p:txBody>
          <a:bodyPr wrap="square" lIns="0" tIns="0" rIns="0" bIns="0" rtlCol="0" anchor="ctr"/>
          <a:lstStyle/>
          <a:p>
            <a:pPr indent="0" marL="0">
              <a:buNone/>
            </a:pPr>
            <a:r>
              <a:rPr lang="en-US" sz="1300" b="1" spc="300" kern="0" dirty="0">
                <a:solidFill>
                  <a:srgbClr val="1D6FE0"/>
                </a:solidFill>
                <a:latin typeface="Arial" pitchFamily="34" charset="0"/>
                <a:ea typeface="Arial" pitchFamily="34" charset="-122"/>
                <a:cs typeface="Arial" pitchFamily="34" charset="-120"/>
              </a:rPr>
              <a:t>CIERRE</a:t>
            </a:r>
            <a:endParaRPr lang="en-US" sz="1300" dirty="0"/>
          </a:p>
        </p:txBody>
      </p:sp>
      <p:sp>
        <p:nvSpPr>
          <p:cNvPr id="3" name="Text 1"/>
          <p:cNvSpPr/>
          <p:nvPr/>
        </p:nvSpPr>
        <p:spPr>
          <a:xfrm>
            <a:off x="640080" y="713232"/>
            <a:ext cx="10881360" cy="777240"/>
          </a:xfrm>
          <a:prstGeom prst="rect">
            <a:avLst/>
          </a:prstGeom>
          <a:noFill/>
          <a:ln/>
        </p:spPr>
        <p:txBody>
          <a:bodyPr wrap="square" lIns="0" tIns="0" rIns="0" bIns="0" rtlCol="0" anchor="ctr"/>
          <a:lstStyle/>
          <a:p>
            <a:pPr indent="0" marL="0">
              <a:buNone/>
            </a:pPr>
            <a:r>
              <a:rPr lang="en-US" sz="3300" b="1" dirty="0">
                <a:solidFill>
                  <a:srgbClr val="0F2240"/>
                </a:solidFill>
                <a:latin typeface="Cambria" pitchFamily="34" charset="0"/>
                <a:ea typeface="Cambria" pitchFamily="34" charset="-122"/>
                <a:cs typeface="Cambria" pitchFamily="34" charset="-120"/>
              </a:rPr>
              <a:t>Lo que me llevo de este proyecto</a:t>
            </a:r>
            <a:endParaRPr lang="en-US" sz="3300" dirty="0"/>
          </a:p>
        </p:txBody>
      </p:sp>
      <p:sp>
        <p:nvSpPr>
          <p:cNvPr id="4" name="Shape 2"/>
          <p:cNvSpPr/>
          <p:nvPr/>
        </p:nvSpPr>
        <p:spPr>
          <a:xfrm>
            <a:off x="640080" y="1783080"/>
            <a:ext cx="5394960" cy="4297680"/>
          </a:xfrm>
          <a:prstGeom prst="roundRect">
            <a:avLst>
              <a:gd name="adj" fmla="val 2553"/>
            </a:avLst>
          </a:prstGeom>
          <a:solidFill>
            <a:srgbClr val="FFFFFF"/>
          </a:solidFill>
          <a:ln/>
          <a:effectLst>
            <a:outerShdw sx="100000" sy="100000" kx="0" ky="0" algn="bl" rotWithShape="0" blurRad="114300" dist="38100" dir="5400000">
              <a:srgbClr val="0A1F3D">
                <a:alpha val="16000"/>
              </a:srgbClr>
            </a:outerShdw>
          </a:effectLst>
        </p:spPr>
      </p:sp>
      <p:pic>
        <p:nvPicPr>
          <p:cNvPr id="5" name="Image 0" descr="preencoded.png">    </p:cNvPr>
          <p:cNvPicPr>
            <a:picLocks noChangeAspect="1"/>
          </p:cNvPicPr>
          <p:nvPr/>
        </p:nvPicPr>
        <p:blipFill>
          <a:blip r:embed="rId1"/>
          <a:stretch>
            <a:fillRect/>
          </a:stretch>
        </p:blipFill>
        <p:spPr>
          <a:xfrm>
            <a:off x="1051560" y="2084832"/>
            <a:ext cx="365760" cy="365760"/>
          </a:xfrm>
          <a:prstGeom prst="rect">
            <a:avLst/>
          </a:prstGeom>
        </p:spPr>
      </p:pic>
      <p:sp>
        <p:nvSpPr>
          <p:cNvPr id="6" name="Text 3"/>
          <p:cNvSpPr/>
          <p:nvPr/>
        </p:nvSpPr>
        <p:spPr>
          <a:xfrm>
            <a:off x="1554480" y="2084832"/>
            <a:ext cx="4206240" cy="365760"/>
          </a:xfrm>
          <a:prstGeom prst="rect">
            <a:avLst/>
          </a:prstGeom>
          <a:noFill/>
          <a:ln/>
        </p:spPr>
        <p:txBody>
          <a:bodyPr wrap="square" lIns="0" tIns="0" rIns="0" bIns="0" rtlCol="0" anchor="ctr"/>
          <a:lstStyle/>
          <a:p>
            <a:pPr indent="0" marL="0">
              <a:buNone/>
            </a:pPr>
            <a:r>
              <a:rPr lang="en-US" sz="1900" b="1" dirty="0">
                <a:solidFill>
                  <a:srgbClr val="0F2240"/>
                </a:solidFill>
                <a:latin typeface="Cambria" pitchFamily="34" charset="0"/>
                <a:ea typeface="Cambria" pitchFamily="34" charset="-122"/>
                <a:cs typeface="Cambria" pitchFamily="34" charset="-120"/>
              </a:rPr>
              <a:t>Técnico</a:t>
            </a:r>
            <a:endParaRPr lang="en-US" sz="1900" dirty="0"/>
          </a:p>
        </p:txBody>
      </p:sp>
      <p:pic>
        <p:nvPicPr>
          <p:cNvPr id="7" name="Image 1" descr="preencoded.png">    </p:cNvPr>
          <p:cNvPicPr>
            <a:picLocks noChangeAspect="1"/>
          </p:cNvPicPr>
          <p:nvPr/>
        </p:nvPicPr>
        <p:blipFill>
          <a:blip r:embed="rId2"/>
          <a:stretch>
            <a:fillRect/>
          </a:stretch>
        </p:blipFill>
        <p:spPr>
          <a:xfrm>
            <a:off x="1051560" y="2724912"/>
            <a:ext cx="274320" cy="274320"/>
          </a:xfrm>
          <a:prstGeom prst="rect">
            <a:avLst/>
          </a:prstGeom>
        </p:spPr>
      </p:pic>
      <p:sp>
        <p:nvSpPr>
          <p:cNvPr id="8" name="Text 4"/>
          <p:cNvSpPr/>
          <p:nvPr/>
        </p:nvSpPr>
        <p:spPr>
          <a:xfrm>
            <a:off x="1481328" y="2642616"/>
            <a:ext cx="4160520" cy="329184"/>
          </a:xfrm>
          <a:prstGeom prst="rect">
            <a:avLst/>
          </a:prstGeom>
          <a:noFill/>
          <a:ln/>
        </p:spPr>
        <p:txBody>
          <a:bodyPr wrap="square" lIns="0" tIns="0" rIns="0" bIns="0" rtlCol="0" anchor="ctr"/>
          <a:lstStyle/>
          <a:p>
            <a:pPr indent="0" marL="0">
              <a:buNone/>
            </a:pPr>
            <a:r>
              <a:rPr lang="en-US" sz="1450" b="1" dirty="0">
                <a:solidFill>
                  <a:srgbClr val="0F2240"/>
                </a:solidFill>
                <a:latin typeface="Arial" pitchFamily="34" charset="0"/>
                <a:ea typeface="Arial" pitchFamily="34" charset="-122"/>
                <a:cs typeface="Arial" pitchFamily="34" charset="-120"/>
              </a:rPr>
              <a:t>Códigos de respuesta</a:t>
            </a:r>
            <a:endParaRPr lang="en-US" sz="1450" dirty="0"/>
          </a:p>
        </p:txBody>
      </p:sp>
      <p:sp>
        <p:nvSpPr>
          <p:cNvPr id="9" name="Text 5"/>
          <p:cNvSpPr/>
          <p:nvPr/>
        </p:nvSpPr>
        <p:spPr>
          <a:xfrm>
            <a:off x="1481328" y="2971800"/>
            <a:ext cx="4206240" cy="457200"/>
          </a:xfrm>
          <a:prstGeom prst="rect">
            <a:avLst/>
          </a:prstGeom>
          <a:noFill/>
          <a:ln/>
        </p:spPr>
        <p:txBody>
          <a:bodyPr wrap="square" lIns="0" tIns="0" rIns="0" bIns="0" rtlCol="0" anchor="ctr"/>
          <a:lstStyle/>
          <a:p>
            <a:pPr indent="0" marL="0">
              <a:buNone/>
            </a:pPr>
            <a:r>
              <a:rPr lang="en-US" sz="1200" dirty="0">
                <a:solidFill>
                  <a:srgbClr val="5B6B82"/>
                </a:solidFill>
                <a:latin typeface="Arial" pitchFamily="34" charset="0"/>
                <a:ea typeface="Arial" pitchFamily="34" charset="-122"/>
                <a:cs typeface="Arial" pitchFamily="34" charset="-120"/>
              </a:rPr>
              <a:t>200 ok · 204 recibido · 404 no encontrado</a:t>
            </a:r>
            <a:endParaRPr lang="en-US" sz="1200" dirty="0"/>
          </a:p>
        </p:txBody>
      </p:sp>
      <p:pic>
        <p:nvPicPr>
          <p:cNvPr id="10" name="Image 2" descr="preencoded.png">    </p:cNvPr>
          <p:cNvPicPr>
            <a:picLocks noChangeAspect="1"/>
          </p:cNvPicPr>
          <p:nvPr/>
        </p:nvPicPr>
        <p:blipFill>
          <a:blip r:embed="rId3"/>
          <a:stretch>
            <a:fillRect/>
          </a:stretch>
        </p:blipFill>
        <p:spPr>
          <a:xfrm>
            <a:off x="1051560" y="3547872"/>
            <a:ext cx="274320" cy="274320"/>
          </a:xfrm>
          <a:prstGeom prst="rect">
            <a:avLst/>
          </a:prstGeom>
        </p:spPr>
      </p:pic>
      <p:sp>
        <p:nvSpPr>
          <p:cNvPr id="11" name="Text 6"/>
          <p:cNvSpPr/>
          <p:nvPr/>
        </p:nvSpPr>
        <p:spPr>
          <a:xfrm>
            <a:off x="1481328" y="3465576"/>
            <a:ext cx="4160520" cy="329184"/>
          </a:xfrm>
          <a:prstGeom prst="rect">
            <a:avLst/>
          </a:prstGeom>
          <a:noFill/>
          <a:ln/>
        </p:spPr>
        <p:txBody>
          <a:bodyPr wrap="square" lIns="0" tIns="0" rIns="0" bIns="0" rtlCol="0" anchor="ctr"/>
          <a:lstStyle/>
          <a:p>
            <a:pPr indent="0" marL="0">
              <a:buNone/>
            </a:pPr>
            <a:r>
              <a:rPr lang="en-US" sz="1450" b="1" dirty="0">
                <a:solidFill>
                  <a:srgbClr val="0F2240"/>
                </a:solidFill>
                <a:latin typeface="Arial" pitchFamily="34" charset="0"/>
                <a:ea typeface="Arial" pitchFamily="34" charset="-122"/>
                <a:cs typeface="Arial" pitchFamily="34" charset="-120"/>
              </a:rPr>
              <a:t>.json() convierte</a:t>
            </a:r>
            <a:endParaRPr lang="en-US" sz="1450" dirty="0"/>
          </a:p>
        </p:txBody>
      </p:sp>
      <p:sp>
        <p:nvSpPr>
          <p:cNvPr id="12" name="Text 7"/>
          <p:cNvSpPr/>
          <p:nvPr/>
        </p:nvSpPr>
        <p:spPr>
          <a:xfrm>
            <a:off x="1481328" y="3794760"/>
            <a:ext cx="4206240" cy="457200"/>
          </a:xfrm>
          <a:prstGeom prst="rect">
            <a:avLst/>
          </a:prstGeom>
          <a:noFill/>
          <a:ln/>
        </p:spPr>
        <p:txBody>
          <a:bodyPr wrap="square" lIns="0" tIns="0" rIns="0" bIns="0" rtlCol="0" anchor="ctr"/>
          <a:lstStyle/>
          <a:p>
            <a:pPr indent="0" marL="0">
              <a:buNone/>
            </a:pPr>
            <a:r>
              <a:rPr lang="en-US" sz="1200" dirty="0">
                <a:solidFill>
                  <a:srgbClr val="5B6B82"/>
                </a:solidFill>
                <a:latin typeface="Arial" pitchFamily="34" charset="0"/>
                <a:ea typeface="Arial" pitchFamily="34" charset="-122"/>
                <a:cs typeface="Arial" pitchFamily="34" charset="-120"/>
              </a:rPr>
              <a:t>el texto crudo de la API en un diccionario usable</a:t>
            </a:r>
            <a:endParaRPr lang="en-US" sz="1200" dirty="0"/>
          </a:p>
        </p:txBody>
      </p:sp>
      <p:pic>
        <p:nvPicPr>
          <p:cNvPr id="13" name="Image 3" descr="preencoded.png">    </p:cNvPr>
          <p:cNvPicPr>
            <a:picLocks noChangeAspect="1"/>
          </p:cNvPicPr>
          <p:nvPr/>
        </p:nvPicPr>
        <p:blipFill>
          <a:blip r:embed="rId4"/>
          <a:stretch>
            <a:fillRect/>
          </a:stretch>
        </p:blipFill>
        <p:spPr>
          <a:xfrm>
            <a:off x="1051560" y="4370832"/>
            <a:ext cx="274320" cy="274320"/>
          </a:xfrm>
          <a:prstGeom prst="rect">
            <a:avLst/>
          </a:prstGeom>
        </p:spPr>
      </p:pic>
      <p:sp>
        <p:nvSpPr>
          <p:cNvPr id="14" name="Text 8"/>
          <p:cNvSpPr/>
          <p:nvPr/>
        </p:nvSpPr>
        <p:spPr>
          <a:xfrm>
            <a:off x="1481328" y="4288536"/>
            <a:ext cx="4160520" cy="329184"/>
          </a:xfrm>
          <a:prstGeom prst="rect">
            <a:avLst/>
          </a:prstGeom>
          <a:noFill/>
          <a:ln/>
        </p:spPr>
        <p:txBody>
          <a:bodyPr wrap="square" lIns="0" tIns="0" rIns="0" bIns="0" rtlCol="0" anchor="ctr"/>
          <a:lstStyle/>
          <a:p>
            <a:pPr indent="0" marL="0">
              <a:buNone/>
            </a:pPr>
            <a:r>
              <a:rPr lang="en-US" sz="1450" b="1" dirty="0">
                <a:solidFill>
                  <a:srgbClr val="0F2240"/>
                </a:solidFill>
                <a:latin typeface="Arial" pitchFamily="34" charset="0"/>
                <a:ea typeface="Arial" pitchFamily="34" charset="-122"/>
                <a:cs typeface="Arial" pitchFamily="34" charset="-120"/>
              </a:rPr>
              <a:t>try / except</a:t>
            </a:r>
            <a:endParaRPr lang="en-US" sz="1450" dirty="0"/>
          </a:p>
        </p:txBody>
      </p:sp>
      <p:sp>
        <p:nvSpPr>
          <p:cNvPr id="15" name="Text 9"/>
          <p:cNvSpPr/>
          <p:nvPr/>
        </p:nvSpPr>
        <p:spPr>
          <a:xfrm>
            <a:off x="1481328" y="4617720"/>
            <a:ext cx="4206240" cy="457200"/>
          </a:xfrm>
          <a:prstGeom prst="rect">
            <a:avLst/>
          </a:prstGeom>
          <a:noFill/>
          <a:ln/>
        </p:spPr>
        <p:txBody>
          <a:bodyPr wrap="square" lIns="0" tIns="0" rIns="0" bIns="0" rtlCol="0" anchor="ctr"/>
          <a:lstStyle/>
          <a:p>
            <a:pPr indent="0" marL="0">
              <a:buNone/>
            </a:pPr>
            <a:r>
              <a:rPr lang="en-US" sz="1200" dirty="0">
                <a:solidFill>
                  <a:srgbClr val="5B6B82"/>
                </a:solidFill>
                <a:latin typeface="Arial" pitchFamily="34" charset="0"/>
                <a:ea typeface="Arial" pitchFamily="34" charset="-122"/>
                <a:cs typeface="Arial" pitchFamily="34" charset="-120"/>
              </a:rPr>
              <a:t>evita que el programa explote ante errores de red</a:t>
            </a:r>
            <a:endParaRPr lang="en-US" sz="1200" dirty="0"/>
          </a:p>
        </p:txBody>
      </p:sp>
      <p:pic>
        <p:nvPicPr>
          <p:cNvPr id="16" name="Image 4" descr="preencoded.png">    </p:cNvPr>
          <p:cNvPicPr>
            <a:picLocks noChangeAspect="1"/>
          </p:cNvPicPr>
          <p:nvPr/>
        </p:nvPicPr>
        <p:blipFill>
          <a:blip r:embed="rId5"/>
          <a:stretch>
            <a:fillRect/>
          </a:stretch>
        </p:blipFill>
        <p:spPr>
          <a:xfrm>
            <a:off x="1051560" y="5193792"/>
            <a:ext cx="274320" cy="274320"/>
          </a:xfrm>
          <a:prstGeom prst="rect">
            <a:avLst/>
          </a:prstGeom>
        </p:spPr>
      </p:pic>
      <p:sp>
        <p:nvSpPr>
          <p:cNvPr id="17" name="Text 10"/>
          <p:cNvSpPr/>
          <p:nvPr/>
        </p:nvSpPr>
        <p:spPr>
          <a:xfrm>
            <a:off x="1481328" y="5111496"/>
            <a:ext cx="4160520" cy="329184"/>
          </a:xfrm>
          <a:prstGeom prst="rect">
            <a:avLst/>
          </a:prstGeom>
          <a:noFill/>
          <a:ln/>
        </p:spPr>
        <p:txBody>
          <a:bodyPr wrap="square" lIns="0" tIns="0" rIns="0" bIns="0" rtlCol="0" anchor="ctr"/>
          <a:lstStyle/>
          <a:p>
            <a:pPr indent="0" marL="0">
              <a:buNone/>
            </a:pPr>
            <a:r>
              <a:rPr lang="en-US" sz="1450" b="1" dirty="0">
                <a:solidFill>
                  <a:srgbClr val="0F2240"/>
                </a:solidFill>
                <a:latin typeface="Arial" pitchFamily="34" charset="0"/>
                <a:ea typeface="Arial" pitchFamily="34" charset="-122"/>
                <a:cs typeface="Arial" pitchFamily="34" charset="-120"/>
              </a:rPr>
              <a:t>head es más eficiente</a:t>
            </a:r>
            <a:endParaRPr lang="en-US" sz="1450" dirty="0"/>
          </a:p>
        </p:txBody>
      </p:sp>
      <p:sp>
        <p:nvSpPr>
          <p:cNvPr id="18" name="Text 11"/>
          <p:cNvSpPr/>
          <p:nvPr/>
        </p:nvSpPr>
        <p:spPr>
          <a:xfrm>
            <a:off x="1481328" y="5440680"/>
            <a:ext cx="4206240" cy="457200"/>
          </a:xfrm>
          <a:prstGeom prst="rect">
            <a:avLst/>
          </a:prstGeom>
          <a:noFill/>
          <a:ln/>
        </p:spPr>
        <p:txBody>
          <a:bodyPr wrap="square" lIns="0" tIns="0" rIns="0" bIns="0" rtlCol="0" anchor="ctr"/>
          <a:lstStyle/>
          <a:p>
            <a:pPr indent="0" marL="0">
              <a:buNone/>
            </a:pPr>
            <a:r>
              <a:rPr lang="en-US" sz="1200" dirty="0">
                <a:solidFill>
                  <a:srgbClr val="5B6B82"/>
                </a:solidFill>
                <a:latin typeface="Arial" pitchFamily="34" charset="0"/>
                <a:ea typeface="Arial" pitchFamily="34" charset="-122"/>
                <a:cs typeface="Arial" pitchFamily="34" charset="-120"/>
              </a:rPr>
              <a:t>que get cuando solo querés verificar conexión</a:t>
            </a:r>
            <a:endParaRPr lang="en-US" sz="1200" dirty="0"/>
          </a:p>
        </p:txBody>
      </p:sp>
      <p:sp>
        <p:nvSpPr>
          <p:cNvPr id="19" name="Shape 12"/>
          <p:cNvSpPr/>
          <p:nvPr/>
        </p:nvSpPr>
        <p:spPr>
          <a:xfrm>
            <a:off x="6309360" y="1783080"/>
            <a:ext cx="5212080" cy="4297680"/>
          </a:xfrm>
          <a:prstGeom prst="roundRect">
            <a:avLst>
              <a:gd name="adj" fmla="val 2553"/>
            </a:avLst>
          </a:prstGeom>
          <a:solidFill>
            <a:srgbClr val="0A1F3D"/>
          </a:solidFill>
          <a:ln/>
          <a:effectLst>
            <a:outerShdw sx="100000" sy="100000" kx="0" ky="0" algn="bl" rotWithShape="0" blurRad="114300" dist="38100" dir="5400000">
              <a:srgbClr val="0A1F3D">
                <a:alpha val="16000"/>
              </a:srgbClr>
            </a:outerShdw>
          </a:effectLst>
        </p:spPr>
      </p:sp>
      <p:pic>
        <p:nvPicPr>
          <p:cNvPr id="20" name="Image 5" descr="preencoded.png">    </p:cNvPr>
          <p:cNvPicPr>
            <a:picLocks noChangeAspect="1"/>
          </p:cNvPicPr>
          <p:nvPr/>
        </p:nvPicPr>
        <p:blipFill>
          <a:blip r:embed="rId6"/>
          <a:stretch>
            <a:fillRect/>
          </a:stretch>
        </p:blipFill>
        <p:spPr>
          <a:xfrm>
            <a:off x="6720840" y="2084832"/>
            <a:ext cx="384048" cy="384048"/>
          </a:xfrm>
          <a:prstGeom prst="rect">
            <a:avLst/>
          </a:prstGeom>
        </p:spPr>
      </p:pic>
      <p:sp>
        <p:nvSpPr>
          <p:cNvPr id="21" name="Text 13"/>
          <p:cNvSpPr/>
          <p:nvPr/>
        </p:nvSpPr>
        <p:spPr>
          <a:xfrm>
            <a:off x="7223760" y="2084832"/>
            <a:ext cx="4023360" cy="365760"/>
          </a:xfrm>
          <a:prstGeom prst="rect">
            <a:avLst/>
          </a:prstGeom>
          <a:noFill/>
          <a:ln/>
        </p:spPr>
        <p:txBody>
          <a:bodyPr wrap="square" lIns="0" tIns="0" rIns="0" bIns="0" rtlCol="0" anchor="ctr"/>
          <a:lstStyle/>
          <a:p>
            <a:pPr indent="0" marL="0">
              <a:buNone/>
            </a:pPr>
            <a:r>
              <a:rPr lang="en-US" sz="1900" b="1" dirty="0">
                <a:solidFill>
                  <a:srgbClr val="38BDF8"/>
                </a:solidFill>
                <a:latin typeface="Cambria" pitchFamily="34" charset="0"/>
                <a:ea typeface="Cambria" pitchFamily="34" charset="-122"/>
                <a:cs typeface="Cambria" pitchFamily="34" charset="-120"/>
              </a:rPr>
              <a:t>Aplicado al mundo real</a:t>
            </a:r>
            <a:endParaRPr lang="en-US" sz="1900" dirty="0"/>
          </a:p>
        </p:txBody>
      </p:sp>
      <p:pic>
        <p:nvPicPr>
          <p:cNvPr id="22" name="Image 6" descr="preencoded.png">    </p:cNvPr>
          <p:cNvPicPr>
            <a:picLocks noChangeAspect="1"/>
          </p:cNvPicPr>
          <p:nvPr/>
        </p:nvPicPr>
        <p:blipFill>
          <a:blip r:embed="rId7"/>
          <a:stretch>
            <a:fillRect/>
          </a:stretch>
        </p:blipFill>
        <p:spPr>
          <a:xfrm>
            <a:off x="6720840" y="2788920"/>
            <a:ext cx="274320" cy="274320"/>
          </a:xfrm>
          <a:prstGeom prst="rect">
            <a:avLst/>
          </a:prstGeom>
        </p:spPr>
      </p:pic>
      <p:sp>
        <p:nvSpPr>
          <p:cNvPr id="23" name="Text 14"/>
          <p:cNvSpPr/>
          <p:nvPr/>
        </p:nvSpPr>
        <p:spPr>
          <a:xfrm>
            <a:off x="7178040" y="2697480"/>
            <a:ext cx="3977640" cy="822960"/>
          </a:xfrm>
          <a:prstGeom prst="rect">
            <a:avLst/>
          </a:prstGeom>
          <a:noFill/>
          <a:ln/>
        </p:spPr>
        <p:txBody>
          <a:bodyPr wrap="square" lIns="0" tIns="0" rIns="0" bIns="0" rtlCol="0" anchor="ctr"/>
          <a:lstStyle/>
          <a:p>
            <a:pPr indent="0" marL="0">
              <a:lnSpc>
                <a:spcPts val="2000"/>
              </a:lnSpc>
              <a:buNone/>
            </a:pPr>
            <a:r>
              <a:rPr lang="en-US" sz="1400" dirty="0">
                <a:solidFill>
                  <a:srgbClr val="E6EEFA"/>
                </a:solidFill>
                <a:latin typeface="Arial" pitchFamily="34" charset="0"/>
                <a:ea typeface="Arial" pitchFamily="34" charset="-122"/>
                <a:cs typeface="Arial" pitchFamily="34" charset="-120"/>
              </a:rPr>
              <a:t>Este patrón es exactamente el que usan las automatizaciones reales.</a:t>
            </a:r>
            <a:endParaRPr lang="en-US" sz="1400" dirty="0"/>
          </a:p>
        </p:txBody>
      </p:sp>
      <p:pic>
        <p:nvPicPr>
          <p:cNvPr id="24" name="Image 7" descr="preencoded.png">    </p:cNvPr>
          <p:cNvPicPr>
            <a:picLocks noChangeAspect="1"/>
          </p:cNvPicPr>
          <p:nvPr/>
        </p:nvPicPr>
        <p:blipFill>
          <a:blip r:embed="rId8"/>
          <a:stretch>
            <a:fillRect/>
          </a:stretch>
        </p:blipFill>
        <p:spPr>
          <a:xfrm>
            <a:off x="6720840" y="3813048"/>
            <a:ext cx="274320" cy="274320"/>
          </a:xfrm>
          <a:prstGeom prst="rect">
            <a:avLst/>
          </a:prstGeom>
        </p:spPr>
      </p:pic>
      <p:sp>
        <p:nvSpPr>
          <p:cNvPr id="25" name="Text 15"/>
          <p:cNvSpPr/>
          <p:nvPr/>
        </p:nvSpPr>
        <p:spPr>
          <a:xfrm>
            <a:off x="7178040" y="3721608"/>
            <a:ext cx="3977640" cy="822960"/>
          </a:xfrm>
          <a:prstGeom prst="rect">
            <a:avLst/>
          </a:prstGeom>
          <a:noFill/>
          <a:ln/>
        </p:spPr>
        <p:txBody>
          <a:bodyPr wrap="square" lIns="0" tIns="0" rIns="0" bIns="0" rtlCol="0" anchor="ctr"/>
          <a:lstStyle/>
          <a:p>
            <a:pPr indent="0" marL="0">
              <a:lnSpc>
                <a:spcPts val="2000"/>
              </a:lnSpc>
              <a:buNone/>
            </a:pPr>
            <a:r>
              <a:rPr lang="en-US" sz="1400" dirty="0">
                <a:solidFill>
                  <a:srgbClr val="E6EEFA"/>
                </a:solidFill>
                <a:latin typeface="Arial" pitchFamily="34" charset="0"/>
                <a:ea typeface="Arial" pitchFamily="34" charset="-122"/>
                <a:cs typeface="Arial" pitchFamily="34" charset="-120"/>
              </a:rPr>
              <a:t>Cualquier negocio con datos en una API —precios, inventarios, noticias— se puede automatizar así.</a:t>
            </a:r>
            <a:endParaRPr lang="en-US" sz="1400" dirty="0"/>
          </a:p>
        </p:txBody>
      </p:sp>
      <p:pic>
        <p:nvPicPr>
          <p:cNvPr id="26" name="Image 8" descr="preencoded.png">    </p:cNvPr>
          <p:cNvPicPr>
            <a:picLocks noChangeAspect="1"/>
          </p:cNvPicPr>
          <p:nvPr/>
        </p:nvPicPr>
        <p:blipFill>
          <a:blip r:embed="rId9"/>
          <a:stretch>
            <a:fillRect/>
          </a:stretch>
        </p:blipFill>
        <p:spPr>
          <a:xfrm>
            <a:off x="6720840" y="4837176"/>
            <a:ext cx="274320" cy="274320"/>
          </a:xfrm>
          <a:prstGeom prst="rect">
            <a:avLst/>
          </a:prstGeom>
        </p:spPr>
      </p:pic>
      <p:sp>
        <p:nvSpPr>
          <p:cNvPr id="27" name="Text 16"/>
          <p:cNvSpPr/>
          <p:nvPr/>
        </p:nvSpPr>
        <p:spPr>
          <a:xfrm>
            <a:off x="7178040" y="4745736"/>
            <a:ext cx="3977640" cy="822960"/>
          </a:xfrm>
          <a:prstGeom prst="rect">
            <a:avLst/>
          </a:prstGeom>
          <a:noFill/>
          <a:ln/>
        </p:spPr>
        <p:txBody>
          <a:bodyPr wrap="square" lIns="0" tIns="0" rIns="0" bIns="0" rtlCol="0" anchor="ctr"/>
          <a:lstStyle/>
          <a:p>
            <a:pPr indent="0" marL="0">
              <a:lnSpc>
                <a:spcPts val="2000"/>
              </a:lnSpc>
              <a:buNone/>
            </a:pPr>
            <a:r>
              <a:rPr lang="en-US" sz="1400" dirty="0">
                <a:solidFill>
                  <a:srgbClr val="E6EEFA"/>
                </a:solidFill>
                <a:latin typeface="Arial" pitchFamily="34" charset="0"/>
                <a:ea typeface="Arial" pitchFamily="34" charset="-122"/>
                <a:cs typeface="Arial" pitchFamily="34" charset="-120"/>
              </a:rPr>
              <a:t>La diferencia entre get y post es la base de cómo funciona toda la web.</a:t>
            </a:r>
            <a:endParaRPr lang="en-US" sz="1400" dirty="0"/>
          </a:p>
        </p:txBody>
      </p:sp>
      <p:sp>
        <p:nvSpPr>
          <p:cNvPr id="28" name="Shape 17"/>
          <p:cNvSpPr/>
          <p:nvPr/>
        </p:nvSpPr>
        <p:spPr>
          <a:xfrm>
            <a:off x="6720840" y="5532120"/>
            <a:ext cx="4389120" cy="0"/>
          </a:xfrm>
          <a:prstGeom prst="line">
            <a:avLst/>
          </a:prstGeom>
          <a:noFill/>
          <a:ln w="12700">
            <a:solidFill>
              <a:srgbClr val="26456F"/>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F3D"/>
        </a:solidFill>
      </p:bgPr>
    </p:bg>
    <p:spTree>
      <p:nvGrpSpPr>
        <p:cNvPr id="1" name=""/>
        <p:cNvGrpSpPr/>
        <p:nvPr/>
      </p:nvGrpSpPr>
      <p:grpSpPr>
        <a:xfrm>
          <a:off x="0" y="0"/>
          <a:ext cx="0" cy="0"/>
          <a:chOff x="0" y="0"/>
          <a:chExt cx="0" cy="0"/>
        </a:xfrm>
      </p:grpSpPr>
      <p:sp>
        <p:nvSpPr>
          <p:cNvPr id="2" name="Shape 0"/>
          <p:cNvSpPr/>
          <p:nvPr/>
        </p:nvSpPr>
        <p:spPr>
          <a:xfrm>
            <a:off x="-2011680" y="-2194560"/>
            <a:ext cx="6217920" cy="6217920"/>
          </a:xfrm>
          <a:prstGeom prst="ellipse">
            <a:avLst/>
          </a:prstGeom>
          <a:solidFill>
            <a:srgbClr val="12305C"/>
          </a:solidFill>
          <a:ln/>
        </p:spPr>
      </p:sp>
      <p:sp>
        <p:nvSpPr>
          <p:cNvPr id="3" name="Shape 1"/>
          <p:cNvSpPr/>
          <p:nvPr/>
        </p:nvSpPr>
        <p:spPr>
          <a:xfrm>
            <a:off x="9601200" y="3657600"/>
            <a:ext cx="5029200" cy="5029200"/>
          </a:xfrm>
          <a:prstGeom prst="ellipse">
            <a:avLst/>
          </a:prstGeom>
          <a:solidFill>
            <a:srgbClr val="1D6FE0">
              <a:alpha val="20000"/>
            </a:srgbClr>
          </a:solidFill>
          <a:ln/>
        </p:spPr>
      </p:sp>
      <p:sp>
        <p:nvSpPr>
          <p:cNvPr id="4" name="Text 2"/>
          <p:cNvSpPr/>
          <p:nvPr/>
        </p:nvSpPr>
        <p:spPr>
          <a:xfrm>
            <a:off x="822960" y="2194560"/>
            <a:ext cx="10058400" cy="118872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¡Gracias!</a:t>
            </a:r>
            <a:endParaRPr lang="en-US" sz="6000" dirty="0"/>
          </a:p>
        </p:txBody>
      </p:sp>
      <p:sp>
        <p:nvSpPr>
          <p:cNvPr id="5" name="Text 3"/>
          <p:cNvSpPr/>
          <p:nvPr/>
        </p:nvSpPr>
        <p:spPr>
          <a:xfrm>
            <a:off x="868680" y="3429000"/>
            <a:ext cx="10058400" cy="548640"/>
          </a:xfrm>
          <a:prstGeom prst="rect">
            <a:avLst/>
          </a:prstGeom>
          <a:noFill/>
          <a:ln/>
        </p:spPr>
        <p:txBody>
          <a:bodyPr wrap="square" lIns="0" tIns="0" rIns="0" bIns="0" rtlCol="0" anchor="ctr"/>
          <a:lstStyle/>
          <a:p>
            <a:pPr indent="0" marL="0">
              <a:buNone/>
            </a:pPr>
            <a:r>
              <a:rPr lang="en-US" sz="2200" dirty="0">
                <a:solidFill>
                  <a:srgbClr val="38BDF8"/>
                </a:solidFill>
                <a:latin typeface="Arial" pitchFamily="34" charset="0"/>
                <a:ea typeface="Arial" pitchFamily="34" charset="-122"/>
                <a:cs typeface="Arial" pitchFamily="34" charset="-120"/>
              </a:rPr>
              <a:t>¿Preguntas?</a:t>
            </a:r>
            <a:endParaRPr lang="en-US" sz="2200" dirty="0"/>
          </a:p>
        </p:txBody>
      </p:sp>
      <p:sp>
        <p:nvSpPr>
          <p:cNvPr id="6" name="Shape 4"/>
          <p:cNvSpPr/>
          <p:nvPr/>
        </p:nvSpPr>
        <p:spPr>
          <a:xfrm>
            <a:off x="914400" y="4206240"/>
            <a:ext cx="3657600" cy="0"/>
          </a:xfrm>
          <a:prstGeom prst="line">
            <a:avLst/>
          </a:prstGeom>
          <a:noFill/>
          <a:ln w="19050">
            <a:solidFill>
              <a:srgbClr val="1D6FE0"/>
            </a:solidFill>
            <a:prstDash val="solid"/>
          </a:ln>
        </p:spPr>
      </p:sp>
      <p:sp>
        <p:nvSpPr>
          <p:cNvPr id="7" name="Text 5"/>
          <p:cNvSpPr/>
          <p:nvPr/>
        </p:nvSpPr>
        <p:spPr>
          <a:xfrm>
            <a:off x="868680" y="4434840"/>
            <a:ext cx="10515600" cy="457200"/>
          </a:xfrm>
          <a:prstGeom prst="rect">
            <a:avLst/>
          </a:prstGeom>
          <a:noFill/>
          <a:ln/>
        </p:spPr>
        <p:txBody>
          <a:bodyPr wrap="square" lIns="0" tIns="0" rIns="0" bIns="0" rtlCol="0" anchor="ctr"/>
          <a:lstStyle/>
          <a:p>
            <a:pPr indent="0" marL="0">
              <a:buNone/>
            </a:pPr>
            <a:r>
              <a:rPr lang="en-US" sz="1600" dirty="0">
                <a:solidFill>
                  <a:srgbClr val="C9D8EE"/>
                </a:solidFill>
                <a:latin typeface="Arial" pitchFamily="34" charset="0"/>
                <a:ea typeface="Arial" pitchFamily="34" charset="-122"/>
                <a:cs typeface="Arial" pitchFamily="34" charset="-120"/>
              </a:rPr>
              <a:t>Santiago   ·   Librería </a:t>
            </a:r>
            <a:pPr indent="0" marL="0">
              <a:buNone/>
            </a:pPr>
            <a:r>
              <a:rPr lang="en-US" sz="1600" b="1" dirty="0">
                <a:solidFill>
                  <a:srgbClr val="38BDF8"/>
                </a:solidFill>
                <a:latin typeface="Courier New" pitchFamily="34" charset="0"/>
                <a:ea typeface="Courier New" pitchFamily="34" charset="-122"/>
                <a:cs typeface="Courier New" pitchFamily="34" charset="-120"/>
              </a:rPr>
              <a:t>requests</a:t>
            </a:r>
            <a:pPr indent="0" marL="0">
              <a:buNone/>
            </a:pPr>
            <a:r>
              <a:rPr lang="en-US" sz="1600" dirty="0">
                <a:solidFill>
                  <a:srgbClr val="C9D8EE"/>
                </a:solidFill>
                <a:latin typeface="Arial" pitchFamily="34" charset="0"/>
                <a:ea typeface="Arial" pitchFamily="34" charset="-122"/>
                <a:cs typeface="Arial" pitchFamily="34" charset="-120"/>
              </a:rPr>
              <a:t>   ·   GitHub: </a:t>
            </a:r>
            <a:pPr indent="0" marL="0">
              <a:buNone/>
            </a:pPr>
            <a:r>
              <a:rPr lang="en-US" sz="1600" i="1" dirty="0">
                <a:solidFill>
                  <a:srgbClr val="9FB3D1"/>
                </a:solidFill>
                <a:latin typeface="Arial" pitchFamily="34" charset="0"/>
                <a:ea typeface="Arial" pitchFamily="34" charset="-122"/>
                <a:cs typeface="Arial" pitchFamily="34" charset="-120"/>
              </a:rPr>
              <a:t>(link del repo)</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Dashboard de Noticias Deportivas — requests</dc:title>
  <dc:subject>PptxGenJS Presentation</dc:subject>
  <dc:creator>Santiago</dc:creator>
  <cp:lastModifiedBy>Santiago</cp:lastModifiedBy>
  <cp:revision>1</cp:revision>
  <dcterms:created xsi:type="dcterms:W3CDTF">2026-06-18T02:43:57Z</dcterms:created>
  <dcterms:modified xsi:type="dcterms:W3CDTF">2026-06-18T02:43:57Z</dcterms:modified>
</cp:coreProperties>
</file>